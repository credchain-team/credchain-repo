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3"/>
          <p:cNvSpPr txBox="0"/>
          <p:nvPr/>
        </p:nvSpPr>
        <p:spPr>
          <a:xfrm>
            <a:off x="7955280" y="-1828800"/>
            <a:ext cx="6400800" cy="6400800"/>
          </a:xfrm>
          <a:prstGeom prst="ellipse">
            <a:avLst/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4"/>
          <p:cNvSpPr txBox="0"/>
          <p:nvPr/>
        </p:nvSpPr>
        <p:spPr>
          <a:xfrm>
            <a:off x="8138160" y="-1463040"/>
            <a:ext cx="5852160" cy="5669280"/>
          </a:xfrm>
          <a:prstGeom prst="ellipse">
            <a:avLst/>
          </a:prstGeom>
          <a:solidFill>
            <a:srgbClr val="0F1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5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17C3D6"/>
                </a:solidFill>
                <a:latin typeface="Segoe UI"/>
              </a:rPr>
              <a:t>HACK4FUTO 5.0  ·  PRELIMINARY ROUND  ·  SOLANA HACKATHON</a:t>
            </a:r>
          </a:p>
        </p:txBody>
      </p:sp>
      <p:sp>
        <p:nvSpPr>
          <p:cNvPr id="6" name="s6"/>
          <p:cNvSpPr txBox="1"/>
          <p:nvPr/>
        </p:nvSpPr>
        <p:spPr>
          <a:xfrm>
            <a:off x="502920" y="141732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6400" b="1">
                <a:solidFill>
                  <a:srgbClr val="FFFFFF"/>
                </a:solidFill>
                <a:latin typeface="Segoe UI"/>
              </a:rPr>
              <a:t>Cred</a:t>
            </a:r>
            <a:r>
              <a:rPr lang="en-US" sz="6400" b="1">
                <a:solidFill>
                  <a:srgbClr val="2E6BFF"/>
                </a:solidFill>
                <a:latin typeface="Segoe UI"/>
              </a:rPr>
              <a:t>Chain</a:t>
            </a:r>
          </a:p>
        </p:txBody>
      </p:sp>
      <p:sp>
        <p:nvSpPr>
          <p:cNvPr id="7" name="s7"/>
          <p:cNvSpPr txBox="1"/>
          <p:nvPr/>
        </p:nvSpPr>
        <p:spPr>
          <a:xfrm>
            <a:off x="548640" y="28803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Segoe UI"/>
              </a:rPr>
              <a:t>Your skills are your credit score.</a:t>
            </a:r>
          </a:p>
        </p:txBody>
      </p:sp>
      <p:sp>
        <p:nvSpPr>
          <p:cNvPr id="8" name="s8"/>
          <p:cNvSpPr txBox="1"/>
          <p:nvPr/>
        </p:nvSpPr>
        <p:spPr>
          <a:xfrm>
            <a:off x="548640" y="3520440"/>
            <a:ext cx="859536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20000"/>
            </a:lnSpc>
            <a:r>
              <a:rPr lang="en-US" sz="1600" b="0">
                <a:solidFill>
                  <a:srgbClr val="9FB0C9"/>
                </a:solidFill>
                <a:latin typeface="Segoe UI"/>
              </a:rPr>
              <a:t>Verify what you can do. Get hired on proof. Get paid in seconds — no bank, no bias, no waiting.</a:t>
            </a:r>
          </a:p>
        </p:txBody>
      </p:sp>
      <p:sp>
        <p:nvSpPr>
          <p:cNvPr id="9" name="s9"/>
          <p:cNvSpPr txBox="0"/>
          <p:nvPr/>
        </p:nvSpPr>
        <p:spPr>
          <a:xfrm>
            <a:off x="548640" y="4434840"/>
            <a:ext cx="2194560" cy="105156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10"/>
          <p:cNvSpPr txBox="0"/>
          <p:nvPr/>
        </p:nvSpPr>
        <p:spPr>
          <a:xfrm>
            <a:off x="749808" y="4626864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1</a:t>
            </a:r>
          </a:p>
        </p:txBody>
      </p:sp>
      <p:sp>
        <p:nvSpPr>
          <p:cNvPr id="11" name="s11"/>
          <p:cNvSpPr txBox="1"/>
          <p:nvPr/>
        </p:nvSpPr>
        <p:spPr>
          <a:xfrm>
            <a:off x="1261872" y="462686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</a:rPr>
              <a:t>Verify</a:t>
            </a:r>
          </a:p>
        </p:txBody>
      </p:sp>
      <p:sp>
        <p:nvSpPr>
          <p:cNvPr id="12" name="s12"/>
          <p:cNvSpPr txBox="1"/>
          <p:nvPr/>
        </p:nvSpPr>
        <p:spPr>
          <a:xfrm>
            <a:off x="2761488" y="4718304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800" b="1">
                <a:solidFill>
                  <a:srgbClr val="6E7F9B"/>
                </a:solidFill>
                <a:latin typeface="Segoe UI"/>
              </a:rPr>
              <a:t>→</a:t>
            </a:r>
          </a:p>
        </p:txBody>
      </p:sp>
      <p:sp>
        <p:nvSpPr>
          <p:cNvPr id="13" name="s13"/>
          <p:cNvSpPr txBox="0"/>
          <p:nvPr/>
        </p:nvSpPr>
        <p:spPr>
          <a:xfrm>
            <a:off x="3017520" y="4434840"/>
            <a:ext cx="2194560" cy="105156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14"/>
          <p:cNvSpPr txBox="0"/>
          <p:nvPr/>
        </p:nvSpPr>
        <p:spPr>
          <a:xfrm>
            <a:off x="3218688" y="4626864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2</a:t>
            </a:r>
          </a:p>
        </p:txBody>
      </p:sp>
      <p:sp>
        <p:nvSpPr>
          <p:cNvPr id="15" name="s15"/>
          <p:cNvSpPr txBox="1"/>
          <p:nvPr/>
        </p:nvSpPr>
        <p:spPr>
          <a:xfrm>
            <a:off x="3730752" y="462686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</a:rPr>
              <a:t>Anchor</a:t>
            </a:r>
          </a:p>
        </p:txBody>
      </p:sp>
      <p:sp>
        <p:nvSpPr>
          <p:cNvPr id="16" name="s16"/>
          <p:cNvSpPr txBox="1"/>
          <p:nvPr/>
        </p:nvSpPr>
        <p:spPr>
          <a:xfrm>
            <a:off x="5230368" y="4718304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800" b="1">
                <a:solidFill>
                  <a:srgbClr val="6E7F9B"/>
                </a:solidFill>
                <a:latin typeface="Segoe UI"/>
              </a:rPr>
              <a:t>→</a:t>
            </a:r>
          </a:p>
        </p:txBody>
      </p:sp>
      <p:sp>
        <p:nvSpPr>
          <p:cNvPr id="17" name="s17"/>
          <p:cNvSpPr txBox="0"/>
          <p:nvPr/>
        </p:nvSpPr>
        <p:spPr>
          <a:xfrm>
            <a:off x="5486400" y="4434840"/>
            <a:ext cx="2194560" cy="105156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18"/>
          <p:cNvSpPr txBox="0"/>
          <p:nvPr/>
        </p:nvSpPr>
        <p:spPr>
          <a:xfrm>
            <a:off x="5687568" y="4626864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3</a:t>
            </a:r>
          </a:p>
        </p:txBody>
      </p:sp>
      <p:sp>
        <p:nvSpPr>
          <p:cNvPr id="19" name="s19"/>
          <p:cNvSpPr txBox="1"/>
          <p:nvPr/>
        </p:nvSpPr>
        <p:spPr>
          <a:xfrm>
            <a:off x="6199632" y="462686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</a:rPr>
              <a:t>Deliver</a:t>
            </a:r>
          </a:p>
        </p:txBody>
      </p:sp>
      <p:sp>
        <p:nvSpPr>
          <p:cNvPr id="20" name="s20"/>
          <p:cNvSpPr txBox="1"/>
          <p:nvPr/>
        </p:nvSpPr>
        <p:spPr>
          <a:xfrm>
            <a:off x="7699248" y="4718304"/>
            <a:ext cx="256032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800" b="1">
                <a:solidFill>
                  <a:srgbClr val="6E7F9B"/>
                </a:solidFill>
                <a:latin typeface="Segoe UI"/>
              </a:rPr>
              <a:t>→</a:t>
            </a:r>
          </a:p>
        </p:txBody>
      </p:sp>
      <p:sp>
        <p:nvSpPr>
          <p:cNvPr id="21" name="s21"/>
          <p:cNvSpPr txBox="0"/>
          <p:nvPr/>
        </p:nvSpPr>
        <p:spPr>
          <a:xfrm>
            <a:off x="7955280" y="4434840"/>
            <a:ext cx="2194560" cy="105156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22"/>
          <p:cNvSpPr txBox="0"/>
          <p:nvPr/>
        </p:nvSpPr>
        <p:spPr>
          <a:xfrm>
            <a:off x="8156448" y="4626864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4</a:t>
            </a:r>
          </a:p>
        </p:txBody>
      </p:sp>
      <p:sp>
        <p:nvSpPr>
          <p:cNvPr id="23" name="s23"/>
          <p:cNvSpPr txBox="1"/>
          <p:nvPr/>
        </p:nvSpPr>
        <p:spPr>
          <a:xfrm>
            <a:off x="8668512" y="462686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</a:rPr>
              <a:t>Get Paid</a:t>
            </a:r>
          </a:p>
        </p:txBody>
      </p:sp>
      <p:sp>
        <p:nvSpPr>
          <p:cNvPr id="24" name="s24"/>
          <p:cNvSpPr txBox="1"/>
          <p:nvPr/>
        </p:nvSpPr>
        <p:spPr>
          <a:xfrm>
            <a:off x="548640" y="59436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00" b="1">
                <a:solidFill>
                  <a:srgbClr val="6E7F9B"/>
                </a:solidFill>
                <a:latin typeface="Segoe UI"/>
              </a:rPr>
              <a:t>Solana  ·  Metaplex Bubblegum  ·  SPL Memo  ·  Solana Pay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3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50" b="1">
                <a:solidFill>
                  <a:srgbClr val="17C3D6"/>
                </a:solidFill>
                <a:latin typeface="Segoe UI"/>
              </a:rPr>
              <a:t>THE PROBLEM</a:t>
            </a:r>
          </a:p>
        </p:txBody>
      </p:sp>
      <p:sp>
        <p:nvSpPr>
          <p:cNvPr id="4" name="s4"/>
          <p:cNvSpPr txBox="1"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950" b="1">
                <a:solidFill>
                  <a:srgbClr val="6E7F9B"/>
                </a:solidFill>
                <a:latin typeface="Segoe UI"/>
              </a:rPr>
              <a:t>CREDCHAIN  ·  BUILT ON SOLANA</a:t>
            </a:r>
          </a:p>
        </p:txBody>
      </p:sp>
      <p:sp>
        <p:nvSpPr>
          <p:cNvPr id="5" name="s5"/>
          <p:cNvSpPr txBox="1"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lang="en-US" sz="950" b="0">
                <a:solidFill>
                  <a:srgbClr val="6E7F9B"/>
                </a:solidFill>
                <a:latin typeface="Segoe UI"/>
              </a:rPr>
              <a:t>2 / 9</a:t>
            </a:r>
          </a:p>
        </p:txBody>
      </p:sp>
      <p:sp>
        <p:nvSpPr>
          <p:cNvPr id="6" name="s6"/>
          <p:cNvSpPr txBox="1"/>
          <p:nvPr/>
        </p:nvSpPr>
        <p:spPr>
          <a:xfrm>
            <a:off x="548640" y="822960"/>
            <a:ext cx="11155680" cy="9601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2000"/>
            </a:lnSpc>
            <a:r>
              <a:rPr lang="en-US" sz="3200" b="1">
                <a:solidFill>
                  <a:srgbClr val="FFFFFF"/>
                </a:solidFill>
                <a:latin typeface="Segoe UI"/>
              </a:rPr>
              <a:t>Real skill. Zero proof the world will trust.</a:t>
            </a:r>
          </a:p>
        </p:txBody>
      </p:sp>
      <p:sp>
        <p:nvSpPr>
          <p:cNvPr id="7" name="s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500" b="0">
                <a:solidFill>
                  <a:srgbClr val="9FB0C9"/>
                </a:solidFill>
                <a:latin typeface="Segoe UI"/>
              </a:rPr>
              <a:t>Talent is everywhere. Trusted proof of it is nowhere.</a:t>
            </a:r>
          </a:p>
        </p:txBody>
      </p:sp>
      <p:sp>
        <p:nvSpPr>
          <p:cNvPr id="8" name="s8"/>
          <p:cNvSpPr txBox="0"/>
          <p:nvPr/>
        </p:nvSpPr>
        <p:spPr>
          <a:xfrm>
            <a:off x="548640" y="21945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26D6D"/>
          </a:solidFill>
          <a:ln w="12700">
            <a:solidFill>
              <a:srgbClr val="F26D6D"/>
            </a:solidFill>
          </a:ln>
        </p:spPr>
        <p:txBody>
          <a:bodyPr/>
          <a:lstStyle/>
          <a:p/>
        </p:txBody>
      </p:sp>
      <p:sp>
        <p:nvSpPr>
          <p:cNvPr id="9" name="s9"/>
          <p:cNvSpPr txBox="1"/>
          <p:nvPr/>
        </p:nvSpPr>
        <p:spPr>
          <a:xfrm>
            <a:off x="868680" y="246888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Segoe UI"/>
              </a:rPr>
              <a:t>Easy to Fake. Hard to Trust.</a:t>
            </a:r>
          </a:p>
        </p:txBody>
      </p:sp>
      <p:sp>
        <p:nvSpPr>
          <p:cNvPr id="10" name="s10"/>
          <p:cNvSpPr txBox="1"/>
          <p:nvPr/>
        </p:nvSpPr>
        <p:spPr>
          <a:xfrm>
            <a:off x="868680" y="3246120"/>
            <a:ext cx="4480560" cy="2286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25000"/>
            </a:lnSpc>
            <a:r>
              <a:rPr lang="en-US" sz="1400" b="0">
                <a:solidFill>
                  <a:srgbClr val="FFFFFF"/>
                </a:solidFill>
                <a:latin typeface="Segoe UI"/>
              </a:rPr>
              <a:t>Self-reported CVs and unverified certificates let anyone exaggerate. Employers can't confirm a single claim — so a skilled applicant from an unfamiliar school or country starts from a deficit of trust, not a lack of ability.</a:t>
            </a:r>
          </a:p>
        </p:txBody>
      </p:sp>
      <p:sp>
        <p:nvSpPr>
          <p:cNvPr id="11" name="s11"/>
          <p:cNvSpPr txBox="0"/>
          <p:nvPr/>
        </p:nvSpPr>
        <p:spPr>
          <a:xfrm>
            <a:off x="5943600" y="2194560"/>
            <a:ext cx="5696712" cy="12344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12"/>
          <p:cNvSpPr txBox="0"/>
          <p:nvPr/>
        </p:nvSpPr>
        <p:spPr>
          <a:xfrm>
            <a:off x="5943600" y="2194560"/>
            <a:ext cx="91440" cy="1234440"/>
          </a:xfrm>
          <a:prstGeom prst="rect">
            <a:avLst/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13"/>
          <p:cNvSpPr txBox="1"/>
          <p:nvPr/>
        </p:nvSpPr>
        <p:spPr>
          <a:xfrm>
            <a:off x="626364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</a:rPr>
              <a:t>Scattered &amp; Fragmented</a:t>
            </a:r>
          </a:p>
        </p:txBody>
      </p:sp>
      <p:sp>
        <p:nvSpPr>
          <p:cNvPr id="14" name="s14"/>
          <p:cNvSpPr txBox="1"/>
          <p:nvPr/>
        </p:nvSpPr>
        <p:spPr>
          <a:xfrm>
            <a:off x="6263640" y="2761488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4999"/>
            </a:lnSpc>
            <a:r>
              <a:rPr lang="en-US" sz="1200" b="0">
                <a:solidFill>
                  <a:srgbClr val="9FB0C9"/>
                </a:solidFill>
                <a:latin typeface="Segoe UI"/>
              </a:rPr>
              <a:t>Proof lives in PDFs, emails, and paper — no single record of what you can actually do.</a:t>
            </a:r>
          </a:p>
        </p:txBody>
      </p:sp>
      <p:sp>
        <p:nvSpPr>
          <p:cNvPr id="15" name="s15"/>
          <p:cNvSpPr txBox="0"/>
          <p:nvPr/>
        </p:nvSpPr>
        <p:spPr>
          <a:xfrm>
            <a:off x="5943600" y="3566160"/>
            <a:ext cx="5696712" cy="12344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16"/>
          <p:cNvSpPr txBox="0"/>
          <p:nvPr/>
        </p:nvSpPr>
        <p:spPr>
          <a:xfrm>
            <a:off x="5943600" y="3566160"/>
            <a:ext cx="91440" cy="1234440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17"/>
          <p:cNvSpPr txBox="1"/>
          <p:nvPr/>
        </p:nvSpPr>
        <p:spPr>
          <a:xfrm>
            <a:off x="6263640" y="37490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</a:rPr>
              <a:t>Locked Out of Global Work</a:t>
            </a:r>
          </a:p>
        </p:txBody>
      </p:sp>
      <p:sp>
        <p:nvSpPr>
          <p:cNvPr id="18" name="s18"/>
          <p:cNvSpPr txBox="1"/>
          <p:nvPr/>
        </p:nvSpPr>
        <p:spPr>
          <a:xfrm>
            <a:off x="6263640" y="4133088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4999"/>
            </a:lnSpc>
            <a:r>
              <a:rPr lang="en-US" sz="1200" b="0">
                <a:solidFill>
                  <a:srgbClr val="9FB0C9"/>
                </a:solidFill>
                <a:latin typeface="Segoe UI"/>
              </a:rPr>
              <a:t>No bank that takes foreign payment. A 12-month wait for a transcript. Bias against unfamiliar institutions.</a:t>
            </a:r>
          </a:p>
        </p:txBody>
      </p:sp>
      <p:sp>
        <p:nvSpPr>
          <p:cNvPr id="19" name="s19"/>
          <p:cNvSpPr txBox="0"/>
          <p:nvPr/>
        </p:nvSpPr>
        <p:spPr>
          <a:xfrm>
            <a:off x="5943600" y="4983480"/>
            <a:ext cx="5696712" cy="777240"/>
          </a:xfrm>
          <a:prstGeom prst="roundRect">
            <a:avLst/>
          </a:prstGeom>
          <a:solidFill>
            <a:srgbClr val="0F1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20"/>
          <p:cNvSpPr txBox="1"/>
          <p:nvPr/>
        </p:nvSpPr>
        <p:spPr>
          <a:xfrm>
            <a:off x="6172200" y="4983480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lnSpc>
              <a:spcPct val="114999"/>
            </a:lnSpc>
            <a:r>
              <a:rPr lang="en-US" sz="1200" b="0" i="1">
                <a:solidFill>
                  <a:srgbClr val="17C3D6"/>
                </a:solidFill>
                <a:latin typeface="Segoe UI"/>
              </a:rPr>
              <a:t>A student in Lagos can build the app, design the brand, mix the record — but can't turn that skill into income.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3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50" b="1">
                <a:solidFill>
                  <a:srgbClr val="17C3D6"/>
                </a:solidFill>
                <a:latin typeface="Segoe UI"/>
              </a:rPr>
              <a:t>THE SOLUTION</a:t>
            </a:r>
          </a:p>
        </p:txBody>
      </p:sp>
      <p:sp>
        <p:nvSpPr>
          <p:cNvPr id="4" name="s4"/>
          <p:cNvSpPr txBox="1"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950" b="1">
                <a:solidFill>
                  <a:srgbClr val="6E7F9B"/>
                </a:solidFill>
                <a:latin typeface="Segoe UI"/>
              </a:rPr>
              <a:t>CREDCHAIN  ·  BUILT ON SOLANA</a:t>
            </a:r>
          </a:p>
        </p:txBody>
      </p:sp>
      <p:sp>
        <p:nvSpPr>
          <p:cNvPr id="5" name="s5"/>
          <p:cNvSpPr txBox="1"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lang="en-US" sz="950" b="0">
                <a:solidFill>
                  <a:srgbClr val="6E7F9B"/>
                </a:solidFill>
                <a:latin typeface="Segoe UI"/>
              </a:rPr>
              <a:t>3 / 9</a:t>
            </a:r>
          </a:p>
        </p:txBody>
      </p:sp>
      <p:sp>
        <p:nvSpPr>
          <p:cNvPr id="6" name="s6"/>
          <p:cNvSpPr txBox="1"/>
          <p:nvPr/>
        </p:nvSpPr>
        <p:spPr>
          <a:xfrm>
            <a:off x="548640" y="822960"/>
            <a:ext cx="11155680" cy="9601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2000"/>
            </a:lnSpc>
            <a:r>
              <a:rPr lang="en-US" sz="3200" b="1">
                <a:solidFill>
                  <a:srgbClr val="FFFFFF"/>
                </a:solidFill>
                <a:latin typeface="Segoe UI"/>
              </a:rPr>
              <a:t>One loop: verify → get hired → get paid, provably.</a:t>
            </a:r>
          </a:p>
        </p:txBody>
      </p:sp>
      <p:sp>
        <p:nvSpPr>
          <p:cNvPr id="7" name="s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500" b="0">
                <a:solidFill>
                  <a:srgbClr val="9FB0C9"/>
                </a:solidFill>
                <a:latin typeface="Segoe UI"/>
              </a:rPr>
              <a:t>Nothing is claimed. Everything is earned. Everything is anchored on Solana.</a:t>
            </a:r>
          </a:p>
        </p:txBody>
      </p:sp>
      <p:sp>
        <p:nvSpPr>
          <p:cNvPr id="8" name="s8"/>
          <p:cNvSpPr txBox="0"/>
          <p:nvPr/>
        </p:nvSpPr>
        <p:spPr>
          <a:xfrm>
            <a:off x="548640" y="2286000"/>
            <a:ext cx="2084832" cy="30632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9"/>
          <p:cNvSpPr txBox="0"/>
          <p:nvPr/>
        </p:nvSpPr>
        <p:spPr>
          <a:xfrm>
            <a:off x="731520" y="2468880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1</a:t>
            </a:r>
          </a:p>
        </p:txBody>
      </p:sp>
      <p:sp>
        <p:nvSpPr>
          <p:cNvPr id="10" name="s10"/>
          <p:cNvSpPr txBox="1"/>
          <p:nvPr/>
        </p:nvSpPr>
        <p:spPr>
          <a:xfrm>
            <a:off x="685800" y="30632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ctr"/>
            <a:lnSpc>
              <a:spcPct val="100000"/>
            </a:lnSpc>
            <a:r>
              <a:rPr lang="en-US" sz="1450" b="1">
                <a:solidFill>
                  <a:srgbClr val="FFFFFF"/>
                </a:solidFill>
                <a:latin typeface="Segoe UI"/>
              </a:rPr>
              <a:t>Verify a Skill</a:t>
            </a:r>
          </a:p>
        </p:txBody>
      </p:sp>
      <p:sp>
        <p:nvSpPr>
          <p:cNvPr id="11" name="s11"/>
          <p:cNvSpPr txBox="1"/>
          <p:nvPr/>
        </p:nvSpPr>
        <p:spPr>
          <a:xfrm>
            <a:off x="713232" y="379476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ctr"/>
            <a:lnSpc>
              <a:spcPct val="114999"/>
            </a:lnSpc>
            <a:r>
              <a:rPr lang="en-US" sz="1100" b="0">
                <a:solidFill>
                  <a:srgbClr val="9FB0C9"/>
                </a:solidFill>
                <a:latin typeface="Segoe UI"/>
              </a:rPr>
              <a:t>5 pathways: platforms, institutions, peers, delivery, AI review</a:t>
            </a:r>
          </a:p>
        </p:txBody>
      </p:sp>
      <p:sp>
        <p:nvSpPr>
          <p:cNvPr id="12" name="s12"/>
          <p:cNvSpPr txBox="1"/>
          <p:nvPr/>
        </p:nvSpPr>
        <p:spPr>
          <a:xfrm>
            <a:off x="2761488" y="3657600"/>
            <a:ext cx="219456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600" b="1">
                <a:solidFill>
                  <a:srgbClr val="6E7F9B"/>
                </a:solidFill>
                <a:latin typeface="Segoe UI"/>
              </a:rPr>
              <a:t>→</a:t>
            </a:r>
          </a:p>
        </p:txBody>
      </p:sp>
      <p:sp>
        <p:nvSpPr>
          <p:cNvPr id="13" name="s13"/>
          <p:cNvSpPr txBox="0"/>
          <p:nvPr/>
        </p:nvSpPr>
        <p:spPr>
          <a:xfrm>
            <a:off x="2752344" y="2286000"/>
            <a:ext cx="2084832" cy="3063240"/>
          </a:xfrm>
          <a:prstGeom prst="roundRect">
            <a:avLst/>
          </a:prstGeom>
          <a:solidFill>
            <a:srgbClr val="1630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14"/>
          <p:cNvSpPr txBox="0"/>
          <p:nvPr/>
        </p:nvSpPr>
        <p:spPr>
          <a:xfrm>
            <a:off x="2935224" y="2468880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2</a:t>
            </a:r>
          </a:p>
        </p:txBody>
      </p:sp>
      <p:sp>
        <p:nvSpPr>
          <p:cNvPr id="15" name="s15"/>
          <p:cNvSpPr txBox="1"/>
          <p:nvPr/>
        </p:nvSpPr>
        <p:spPr>
          <a:xfrm>
            <a:off x="2889504" y="30632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ctr"/>
            <a:lnSpc>
              <a:spcPct val="100000"/>
            </a:lnSpc>
            <a:r>
              <a:rPr lang="en-US" sz="1450" b="1">
                <a:solidFill>
                  <a:srgbClr val="FFFFFF"/>
                </a:solidFill>
                <a:latin typeface="Segoe UI"/>
              </a:rPr>
              <a:t>Anchor Proof</a:t>
            </a:r>
          </a:p>
        </p:txBody>
      </p:sp>
      <p:sp>
        <p:nvSpPr>
          <p:cNvPr id="16" name="s16"/>
          <p:cNvSpPr txBox="1"/>
          <p:nvPr/>
        </p:nvSpPr>
        <p:spPr>
          <a:xfrm>
            <a:off x="2916936" y="379476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ctr"/>
            <a:lnSpc>
              <a:spcPct val="114999"/>
            </a:lnSpc>
            <a:r>
              <a:rPr lang="en-US" sz="1100" b="0">
                <a:solidFill>
                  <a:srgbClr val="9FB0C9"/>
                </a:solidFill>
                <a:latin typeface="Segoe UI"/>
              </a:rPr>
              <a:t>A tamper-proof credential is written on-chain to Solana</a:t>
            </a:r>
          </a:p>
        </p:txBody>
      </p:sp>
      <p:sp>
        <p:nvSpPr>
          <p:cNvPr id="17" name="s17"/>
          <p:cNvSpPr txBox="1"/>
          <p:nvPr/>
        </p:nvSpPr>
        <p:spPr>
          <a:xfrm>
            <a:off x="4965192" y="3657600"/>
            <a:ext cx="219456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600" b="1">
                <a:solidFill>
                  <a:srgbClr val="6E7F9B"/>
                </a:solidFill>
                <a:latin typeface="Segoe UI"/>
              </a:rPr>
              <a:t>→</a:t>
            </a:r>
          </a:p>
        </p:txBody>
      </p:sp>
      <p:sp>
        <p:nvSpPr>
          <p:cNvPr id="18" name="s18"/>
          <p:cNvSpPr txBox="0"/>
          <p:nvPr/>
        </p:nvSpPr>
        <p:spPr>
          <a:xfrm>
            <a:off x="4956048" y="2286000"/>
            <a:ext cx="2084832" cy="30632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19"/>
          <p:cNvSpPr txBox="0"/>
          <p:nvPr/>
        </p:nvSpPr>
        <p:spPr>
          <a:xfrm>
            <a:off x="5138928" y="2468880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3</a:t>
            </a:r>
          </a:p>
        </p:txBody>
      </p:sp>
      <p:sp>
        <p:nvSpPr>
          <p:cNvPr id="20" name="s20"/>
          <p:cNvSpPr txBox="1"/>
          <p:nvPr/>
        </p:nvSpPr>
        <p:spPr>
          <a:xfrm>
            <a:off x="5093208" y="30632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ctr"/>
            <a:lnSpc>
              <a:spcPct val="100000"/>
            </a:lnSpc>
            <a:r>
              <a:rPr lang="en-US" sz="1450" b="1">
                <a:solidFill>
                  <a:srgbClr val="FFFFFF"/>
                </a:solidFill>
                <a:latin typeface="Segoe UI"/>
              </a:rPr>
              <a:t>Match to Work</a:t>
            </a:r>
          </a:p>
        </p:txBody>
      </p:sp>
      <p:sp>
        <p:nvSpPr>
          <p:cNvPr id="21" name="s21"/>
          <p:cNvSpPr txBox="1"/>
          <p:nvPr/>
        </p:nvSpPr>
        <p:spPr>
          <a:xfrm>
            <a:off x="5120640" y="379476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ctr"/>
            <a:lnSpc>
              <a:spcPct val="114999"/>
            </a:lnSpc>
            <a:r>
              <a:rPr lang="en-US" sz="1100" b="0">
                <a:solidFill>
                  <a:srgbClr val="9FB0C9"/>
                </a:solidFill>
                <a:latin typeface="Segoe UI"/>
              </a:rPr>
              <a:t>Marketplace surfaces tasks that fit their verified tier</a:t>
            </a:r>
          </a:p>
        </p:txBody>
      </p:sp>
      <p:sp>
        <p:nvSpPr>
          <p:cNvPr id="22" name="s22"/>
          <p:cNvSpPr txBox="1"/>
          <p:nvPr/>
        </p:nvSpPr>
        <p:spPr>
          <a:xfrm>
            <a:off x="7168896" y="3657600"/>
            <a:ext cx="219456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600" b="1">
                <a:solidFill>
                  <a:srgbClr val="6E7F9B"/>
                </a:solidFill>
                <a:latin typeface="Segoe UI"/>
              </a:rPr>
              <a:t>→</a:t>
            </a:r>
          </a:p>
        </p:txBody>
      </p:sp>
      <p:sp>
        <p:nvSpPr>
          <p:cNvPr id="23" name="s23"/>
          <p:cNvSpPr txBox="0"/>
          <p:nvPr/>
        </p:nvSpPr>
        <p:spPr>
          <a:xfrm>
            <a:off x="7159752" y="2286000"/>
            <a:ext cx="2084832" cy="3063240"/>
          </a:xfrm>
          <a:prstGeom prst="roundRect">
            <a:avLst/>
          </a:prstGeom>
          <a:solidFill>
            <a:srgbClr val="1630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s24"/>
          <p:cNvSpPr txBox="0"/>
          <p:nvPr/>
        </p:nvSpPr>
        <p:spPr>
          <a:xfrm>
            <a:off x="7342632" y="2468880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4</a:t>
            </a:r>
          </a:p>
        </p:txBody>
      </p:sp>
      <p:sp>
        <p:nvSpPr>
          <p:cNvPr id="25" name="s25"/>
          <p:cNvSpPr txBox="1"/>
          <p:nvPr/>
        </p:nvSpPr>
        <p:spPr>
          <a:xfrm>
            <a:off x="7296912" y="30632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ctr"/>
            <a:lnSpc>
              <a:spcPct val="100000"/>
            </a:lnSpc>
            <a:r>
              <a:rPr lang="en-US" sz="1450" b="1">
                <a:solidFill>
                  <a:srgbClr val="FFFFFF"/>
                </a:solidFill>
                <a:latin typeface="Segoe UI"/>
              </a:rPr>
              <a:t>Escrow Locks Pay</a:t>
            </a:r>
          </a:p>
        </p:txBody>
      </p:sp>
      <p:sp>
        <p:nvSpPr>
          <p:cNvPr id="26" name="s26"/>
          <p:cNvSpPr txBox="1"/>
          <p:nvPr/>
        </p:nvSpPr>
        <p:spPr>
          <a:xfrm>
            <a:off x="7324344" y="379476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ctr"/>
            <a:lnSpc>
              <a:spcPct val="114999"/>
            </a:lnSpc>
            <a:r>
              <a:rPr lang="en-US" sz="1100" b="0">
                <a:solidFill>
                  <a:srgbClr val="9FB0C9"/>
                </a:solidFill>
                <a:latin typeface="Segoe UI"/>
              </a:rPr>
              <a:t>Client's SOL is locked before work even starts</a:t>
            </a:r>
          </a:p>
        </p:txBody>
      </p:sp>
      <p:sp>
        <p:nvSpPr>
          <p:cNvPr id="27" name="s27"/>
          <p:cNvSpPr txBox="1"/>
          <p:nvPr/>
        </p:nvSpPr>
        <p:spPr>
          <a:xfrm>
            <a:off x="9372600" y="3657600"/>
            <a:ext cx="219456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600" b="1">
                <a:solidFill>
                  <a:srgbClr val="6E7F9B"/>
                </a:solidFill>
                <a:latin typeface="Segoe UI"/>
              </a:rPr>
              <a:t>→</a:t>
            </a:r>
          </a:p>
        </p:txBody>
      </p:sp>
      <p:sp>
        <p:nvSpPr>
          <p:cNvPr id="28" name="s28"/>
          <p:cNvSpPr txBox="0"/>
          <p:nvPr/>
        </p:nvSpPr>
        <p:spPr>
          <a:xfrm>
            <a:off x="9363456" y="2286000"/>
            <a:ext cx="2084832" cy="30632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29"/>
          <p:cNvSpPr txBox="0"/>
          <p:nvPr/>
        </p:nvSpPr>
        <p:spPr>
          <a:xfrm>
            <a:off x="9546336" y="2468880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5</a:t>
            </a:r>
          </a:p>
        </p:txBody>
      </p:sp>
      <p:sp>
        <p:nvSpPr>
          <p:cNvPr id="30" name="s30"/>
          <p:cNvSpPr txBox="1"/>
          <p:nvPr/>
        </p:nvSpPr>
        <p:spPr>
          <a:xfrm>
            <a:off x="9500616" y="30632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ctr"/>
            <a:lnSpc>
              <a:spcPct val="100000"/>
            </a:lnSpc>
            <a:r>
              <a:rPr lang="en-US" sz="1450" b="1">
                <a:solidFill>
                  <a:srgbClr val="FFFFFF"/>
                </a:solidFill>
                <a:latin typeface="Segoe UI"/>
              </a:rPr>
              <a:t>Paid in Seconds</a:t>
            </a:r>
          </a:p>
        </p:txBody>
      </p:sp>
      <p:sp>
        <p:nvSpPr>
          <p:cNvPr id="31" name="s31"/>
          <p:cNvSpPr txBox="1"/>
          <p:nvPr/>
        </p:nvSpPr>
        <p:spPr>
          <a:xfrm>
            <a:off x="9528048" y="379476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ctr"/>
            <a:lnSpc>
              <a:spcPct val="114999"/>
            </a:lnSpc>
            <a:r>
              <a:rPr lang="en-US" sz="1100" b="0">
                <a:solidFill>
                  <a:srgbClr val="9FB0C9"/>
                </a:solidFill>
                <a:latin typeface="Segoe UI"/>
              </a:rPr>
              <a:t>Delivery confirmed → SOL settles, sub-second finality</a:t>
            </a:r>
          </a:p>
        </p:txBody>
      </p:sp>
      <p:sp>
        <p:nvSpPr>
          <p:cNvPr id="32" name="s32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50" b="1" i="1">
                <a:solidFill>
                  <a:srgbClr val="17C3D6"/>
                </a:solidFill>
                <a:latin typeface="Segoe UI"/>
              </a:rPr>
              <a:t>Every delivery upgrades the credential automatically — trust compounds with real, provable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3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50" b="1">
                <a:solidFill>
                  <a:srgbClr val="2E6BFF"/>
                </a:solidFill>
                <a:latin typeface="Segoe UI"/>
              </a:rPr>
              <a:t>BLOCKCHAIN INTEGRATION  ·  THE 25-POINT SLIDE</a:t>
            </a:r>
          </a:p>
        </p:txBody>
      </p:sp>
      <p:sp>
        <p:nvSpPr>
          <p:cNvPr id="4" name="s4"/>
          <p:cNvSpPr txBox="1"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950" b="1">
                <a:solidFill>
                  <a:srgbClr val="6E7F9B"/>
                </a:solidFill>
                <a:latin typeface="Segoe UI"/>
              </a:rPr>
              <a:t>CREDCHAIN  ·  BUILT ON SOLANA</a:t>
            </a:r>
          </a:p>
        </p:txBody>
      </p:sp>
      <p:sp>
        <p:nvSpPr>
          <p:cNvPr id="5" name="s5"/>
          <p:cNvSpPr txBox="1"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lang="en-US" sz="950" b="0">
                <a:solidFill>
                  <a:srgbClr val="6E7F9B"/>
                </a:solidFill>
                <a:latin typeface="Segoe UI"/>
              </a:rPr>
              <a:t>4 / 9</a:t>
            </a:r>
          </a:p>
        </p:txBody>
      </p:sp>
      <p:sp>
        <p:nvSpPr>
          <p:cNvPr id="6" name="s6"/>
          <p:cNvSpPr txBox="1"/>
          <p:nvPr/>
        </p:nvSpPr>
        <p:spPr>
          <a:xfrm>
            <a:off x="548640" y="822960"/>
            <a:ext cx="11155680" cy="9601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2000"/>
            </a:lnSpc>
            <a:r>
              <a:rPr lang="en-US" sz="3200" b="1">
                <a:solidFill>
                  <a:srgbClr val="FFFFFF"/>
                </a:solidFill>
                <a:latin typeface="Segoe UI"/>
              </a:rPr>
              <a:t>The economics of trust, at scale.</a:t>
            </a:r>
          </a:p>
        </p:txBody>
      </p:sp>
      <p:sp>
        <p:nvSpPr>
          <p:cNvPr id="7" name="s7"/>
          <p:cNvSpPr txBox="0"/>
          <p:nvPr/>
        </p:nvSpPr>
        <p:spPr>
          <a:xfrm>
            <a:off x="548640" y="1691640"/>
            <a:ext cx="5212080" cy="4069080"/>
          </a:xfrm>
          <a:prstGeom prst="roundRect">
            <a:avLst/>
          </a:prstGeom>
          <a:solidFill>
            <a:srgbClr val="0F1F38"/>
          </a:solidFill>
          <a:ln w="12700">
            <a:solidFill>
              <a:srgbClr val="16305A"/>
            </a:solidFill>
          </a:ln>
        </p:spPr>
        <p:txBody>
          <a:bodyPr/>
          <a:lstStyle/>
          <a:p/>
        </p:txBody>
      </p:sp>
      <p:sp>
        <p:nvSpPr>
          <p:cNvPr id="8" name="s8"/>
          <p:cNvSpPr txBox="1"/>
          <p:nvPr/>
        </p:nvSpPr>
        <p:spPr>
          <a:xfrm>
            <a:off x="777240" y="18745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00" b="1">
                <a:solidFill>
                  <a:srgbClr val="9FB0C9"/>
                </a:solidFill>
                <a:latin typeface="Segoe UI"/>
              </a:rPr>
              <a:t>COST TO MINT 10,000 CREDENTIALS</a:t>
            </a:r>
          </a:p>
        </p:txBody>
      </p:sp>
      <p:sp>
        <p:nvSpPr>
          <p:cNvPr id="9" name="s9"/>
          <p:cNvSpPr txBox="1"/>
          <p:nvPr/>
        </p:nvSpPr>
        <p:spPr>
          <a:xfrm>
            <a:off x="777240" y="23317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9FB0C9"/>
                </a:solidFill>
                <a:latin typeface="Segoe UI"/>
              </a:rPr>
              <a:t>ETHEREUM</a:t>
            </a:r>
          </a:p>
        </p:txBody>
      </p:sp>
      <p:sp>
        <p:nvSpPr>
          <p:cNvPr id="10" name="s10"/>
          <p:cNvSpPr txBox="0"/>
          <p:nvPr/>
        </p:nvSpPr>
        <p:spPr>
          <a:xfrm>
            <a:off x="777240" y="2697480"/>
            <a:ext cx="4663440" cy="548640"/>
          </a:xfrm>
          <a:prstGeom prst="rect">
            <a:avLst/>
          </a:prstGeom>
          <a:solidFill>
            <a:srgbClr val="F26D6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11"/>
          <p:cNvSpPr txBox="1"/>
          <p:nvPr/>
        </p:nvSpPr>
        <p:spPr>
          <a:xfrm>
            <a:off x="868680" y="269748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Segoe UI"/>
              </a:rPr>
              <a:t>$1,000+</a:t>
            </a:r>
          </a:p>
        </p:txBody>
      </p:sp>
      <p:sp>
        <p:nvSpPr>
          <p:cNvPr id="12" name="s12"/>
          <p:cNvSpPr txBox="1"/>
          <p:nvPr/>
        </p:nvSpPr>
        <p:spPr>
          <a:xfrm>
            <a:off x="777240" y="34290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1FD696"/>
                </a:solidFill>
                <a:latin typeface="Segoe UI"/>
              </a:rPr>
              <a:t>SOLANA (BUBBLEGUM cNFTs)</a:t>
            </a:r>
          </a:p>
        </p:txBody>
      </p:sp>
      <p:sp>
        <p:nvSpPr>
          <p:cNvPr id="13" name="s13"/>
          <p:cNvSpPr txBox="0"/>
          <p:nvPr/>
        </p:nvSpPr>
        <p:spPr>
          <a:xfrm>
            <a:off x="777240" y="3794760"/>
            <a:ext cx="868680" cy="548640"/>
          </a:xfrm>
          <a:prstGeom prst="rect">
            <a:avLst/>
          </a:prstGeom>
          <a:solidFill>
            <a:srgbClr val="1FD69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14"/>
          <p:cNvSpPr txBox="1"/>
          <p:nvPr/>
        </p:nvSpPr>
        <p:spPr>
          <a:xfrm>
            <a:off x="1783080" y="37947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800" b="1">
                <a:solidFill>
                  <a:srgbClr val="1FD696"/>
                </a:solidFill>
                <a:latin typeface="Segoe UI"/>
              </a:rPr>
              <a:t>&lt; $2</a:t>
            </a:r>
          </a:p>
        </p:txBody>
      </p:sp>
      <p:sp>
        <p:nvSpPr>
          <p:cNvPr id="15" name="s15"/>
          <p:cNvSpPr txBox="0"/>
          <p:nvPr/>
        </p:nvSpPr>
        <p:spPr>
          <a:xfrm>
            <a:off x="777240" y="4617720"/>
            <a:ext cx="4663440" cy="960120"/>
          </a:xfrm>
          <a:prstGeom prst="roundRect">
            <a:avLst>
              <a:gd name="adj" fmla="val 8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16"/>
          <p:cNvSpPr txBox="1"/>
          <p:nvPr/>
        </p:nvSpPr>
        <p:spPr>
          <a:xfrm>
            <a:off x="1005840" y="4617720"/>
            <a:ext cx="4206240" cy="9601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lnSpc>
              <a:spcPct val="118000"/>
            </a:lnSpc>
            <a:r>
              <a:rPr lang="en-US" sz="1200" b="1" i="1">
                <a:solidFill>
                  <a:srgbClr val="FFFFFF"/>
                </a:solidFill>
                <a:latin typeface="Segoe UI"/>
              </a:rPr>
              <a:t>A ₦2,000 task makes no sense with a $20 gas fee. On Solana it's a fraction of a cent — that's why CredChain only works here.</a:t>
            </a:r>
          </a:p>
        </p:txBody>
      </p:sp>
      <p:sp>
        <p:nvSpPr>
          <p:cNvPr id="17" name="s17"/>
          <p:cNvSpPr txBox="1"/>
          <p:nvPr/>
        </p:nvSpPr>
        <p:spPr>
          <a:xfrm>
            <a:off x="6080760" y="1691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00" b="1">
                <a:solidFill>
                  <a:srgbClr val="9FB0C9"/>
                </a:solidFill>
                <a:latin typeface="Segoe UI"/>
              </a:rPr>
              <a:t>WHAT WE INTEGRATE</a:t>
            </a:r>
          </a:p>
        </p:txBody>
      </p:sp>
      <p:sp>
        <p:nvSpPr>
          <p:cNvPr id="18" name="s18"/>
          <p:cNvSpPr txBox="0"/>
          <p:nvPr/>
        </p:nvSpPr>
        <p:spPr>
          <a:xfrm>
            <a:off x="6080760" y="2057400"/>
            <a:ext cx="5532120" cy="82296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19"/>
          <p:cNvSpPr txBox="0"/>
          <p:nvPr/>
        </p:nvSpPr>
        <p:spPr>
          <a:xfrm>
            <a:off x="6080760" y="2057400"/>
            <a:ext cx="109728" cy="822960"/>
          </a:xfrm>
          <a:prstGeom prst="rect">
            <a:avLst/>
          </a:prstGeom>
          <a:solidFill>
            <a:srgbClr val="17C3D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20"/>
          <p:cNvSpPr txBox="1"/>
          <p:nvPr/>
        </p:nvSpPr>
        <p:spPr>
          <a:xfrm>
            <a:off x="6382512" y="2176272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Segoe UI"/>
              </a:rPr>
              <a:t>SPL Memo Program</a:t>
            </a:r>
          </a:p>
        </p:txBody>
      </p:sp>
      <p:sp>
        <p:nvSpPr>
          <p:cNvPr id="21" name="s21"/>
          <p:cNvSpPr txBox="1"/>
          <p:nvPr/>
        </p:nvSpPr>
        <p:spPr>
          <a:xfrm>
            <a:off x="6382512" y="2514600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5000"/>
            </a:lnSpc>
            <a:r>
              <a:rPr lang="en-US" sz="1100" b="0">
                <a:solidFill>
                  <a:srgbClr val="9FB0C9"/>
                </a:solidFill>
                <a:latin typeface="Segoe UI"/>
              </a:rPr>
              <a:t>Tamper-proof credential hashes anchored on-chain, re-verifiable in &lt;1s</a:t>
            </a:r>
          </a:p>
        </p:txBody>
      </p:sp>
      <p:sp>
        <p:nvSpPr>
          <p:cNvPr id="22" name="s22"/>
          <p:cNvSpPr txBox="0"/>
          <p:nvPr/>
        </p:nvSpPr>
        <p:spPr>
          <a:xfrm>
            <a:off x="6080760" y="2990088"/>
            <a:ext cx="5532120" cy="82296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23"/>
          <p:cNvSpPr txBox="0"/>
          <p:nvPr/>
        </p:nvSpPr>
        <p:spPr>
          <a:xfrm>
            <a:off x="6080760" y="2990088"/>
            <a:ext cx="109728" cy="822960"/>
          </a:xfrm>
          <a:prstGeom prst="rect">
            <a:avLst/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s24"/>
          <p:cNvSpPr txBox="1"/>
          <p:nvPr/>
        </p:nvSpPr>
        <p:spPr>
          <a:xfrm>
            <a:off x="6382512" y="3108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Segoe UI"/>
              </a:rPr>
              <a:t>State Compression · Bubblegum cNFTs</a:t>
            </a:r>
          </a:p>
        </p:txBody>
      </p:sp>
      <p:sp>
        <p:nvSpPr>
          <p:cNvPr id="25" name="s25"/>
          <p:cNvSpPr txBox="1"/>
          <p:nvPr/>
        </p:nvSpPr>
        <p:spPr>
          <a:xfrm>
            <a:off x="6382512" y="3447288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5000"/>
            </a:lnSpc>
            <a:r>
              <a:rPr lang="en-US" sz="1100" b="0">
                <a:solidFill>
                  <a:srgbClr val="9FB0C9"/>
                </a:solidFill>
                <a:latin typeface="Segoe UI"/>
              </a:rPr>
              <a:t>Mint a credential for every learner at scale — the graph on the left</a:t>
            </a:r>
          </a:p>
        </p:txBody>
      </p:sp>
      <p:sp>
        <p:nvSpPr>
          <p:cNvPr id="26" name="s26"/>
          <p:cNvSpPr txBox="0"/>
          <p:nvPr/>
        </p:nvSpPr>
        <p:spPr>
          <a:xfrm>
            <a:off x="6080760" y="3922776"/>
            <a:ext cx="5532120" cy="82296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27"/>
          <p:cNvSpPr txBox="0"/>
          <p:nvPr/>
        </p:nvSpPr>
        <p:spPr>
          <a:xfrm>
            <a:off x="6080760" y="3922776"/>
            <a:ext cx="109728" cy="822960"/>
          </a:xfrm>
          <a:prstGeom prst="rect">
            <a:avLst/>
          </a:prstGeom>
          <a:solidFill>
            <a:srgbClr val="1FD69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28"/>
          <p:cNvSpPr txBox="1"/>
          <p:nvPr/>
        </p:nvSpPr>
        <p:spPr>
          <a:xfrm>
            <a:off x="6382512" y="40416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Segoe UI"/>
              </a:rPr>
              <a:t>Program-Owned Escrow + Solana Pay</a:t>
            </a:r>
          </a:p>
        </p:txBody>
      </p:sp>
      <p:sp>
        <p:nvSpPr>
          <p:cNvPr id="29" name="s29"/>
          <p:cNvSpPr txBox="1"/>
          <p:nvPr/>
        </p:nvSpPr>
        <p:spPr>
          <a:xfrm>
            <a:off x="6382512" y="4379976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5000"/>
            </a:lnSpc>
            <a:r>
              <a:rPr lang="en-US" sz="1100" b="0">
                <a:solidFill>
                  <a:srgbClr val="9FB0C9"/>
                </a:solidFill>
                <a:latin typeface="Segoe UI"/>
              </a:rPr>
              <a:t>Trustless payment, QR verification, no middleware</a:t>
            </a:r>
          </a:p>
        </p:txBody>
      </p:sp>
      <p:sp>
        <p:nvSpPr>
          <p:cNvPr id="30" name="s30"/>
          <p:cNvSpPr txBox="0"/>
          <p:nvPr/>
        </p:nvSpPr>
        <p:spPr>
          <a:xfrm>
            <a:off x="6080760" y="4855464"/>
            <a:ext cx="5532120" cy="82296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31"/>
          <p:cNvSpPr txBox="0"/>
          <p:nvPr/>
        </p:nvSpPr>
        <p:spPr>
          <a:xfrm>
            <a:off x="6080760" y="4855464"/>
            <a:ext cx="109728" cy="822960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s32"/>
          <p:cNvSpPr txBox="1"/>
          <p:nvPr/>
        </p:nvSpPr>
        <p:spPr>
          <a:xfrm>
            <a:off x="6382512" y="4974336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Segoe UI"/>
              </a:rPr>
              <a:t>Sub-Second Finality</a:t>
            </a:r>
          </a:p>
        </p:txBody>
      </p:sp>
      <p:sp>
        <p:nvSpPr>
          <p:cNvPr id="33" name="s33"/>
          <p:cNvSpPr txBox="1"/>
          <p:nvPr/>
        </p:nvSpPr>
        <p:spPr>
          <a:xfrm>
            <a:off x="6382512" y="5312664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5000"/>
            </a:lnSpc>
            <a:r>
              <a:rPr lang="en-US" sz="1100" b="0">
                <a:solidFill>
                  <a:srgbClr val="9FB0C9"/>
                </a:solidFill>
                <a:latin typeface="Segoe UI"/>
              </a:rPr>
              <a:t>SOL hits the student's wallet the instant delivery is confirmed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3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50" b="1">
                <a:solidFill>
                  <a:srgbClr val="F26D6D"/>
                </a:solidFill>
                <a:latin typeface="Segoe UI"/>
              </a:rPr>
              <a:t>FRAUD RESISTANCE</a:t>
            </a:r>
          </a:p>
        </p:txBody>
      </p:sp>
      <p:sp>
        <p:nvSpPr>
          <p:cNvPr id="4" name="s4"/>
          <p:cNvSpPr txBox="1"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950" b="1">
                <a:solidFill>
                  <a:srgbClr val="6E7F9B"/>
                </a:solidFill>
                <a:latin typeface="Segoe UI"/>
              </a:rPr>
              <a:t>CREDCHAIN  ·  BUILT ON SOLANA</a:t>
            </a:r>
          </a:p>
        </p:txBody>
      </p:sp>
      <p:sp>
        <p:nvSpPr>
          <p:cNvPr id="5" name="s5"/>
          <p:cNvSpPr txBox="1"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lang="en-US" sz="950" b="0">
                <a:solidFill>
                  <a:srgbClr val="6E7F9B"/>
                </a:solidFill>
                <a:latin typeface="Segoe UI"/>
              </a:rPr>
              <a:t>5 / 9</a:t>
            </a:r>
          </a:p>
        </p:txBody>
      </p:sp>
      <p:sp>
        <p:nvSpPr>
          <p:cNvPr id="6" name="s6"/>
          <p:cNvSpPr txBox="1"/>
          <p:nvPr/>
        </p:nvSpPr>
        <p:spPr>
          <a:xfrm>
            <a:off x="548640" y="822960"/>
            <a:ext cx="11155680" cy="9601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2000"/>
            </a:lnSpc>
            <a:r>
              <a:rPr lang="en-US" sz="2700" b="1">
                <a:solidFill>
                  <a:srgbClr val="FFFFFF"/>
                </a:solidFill>
                <a:latin typeface="Segoe UI"/>
              </a:rPr>
              <a:t>You can fake a certificate. You can't fake twenty paid deliveries.</a:t>
            </a:r>
          </a:p>
        </p:txBody>
      </p:sp>
      <p:sp>
        <p:nvSpPr>
          <p:cNvPr id="7" name="s7"/>
          <p:cNvSpPr txBox="0"/>
          <p:nvPr/>
        </p:nvSpPr>
        <p:spPr>
          <a:xfrm>
            <a:off x="548640" y="2148840"/>
            <a:ext cx="5394960" cy="12344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8"/>
          <p:cNvSpPr txBox="0"/>
          <p:nvPr/>
        </p:nvSpPr>
        <p:spPr>
          <a:xfrm>
            <a:off x="548640" y="2148840"/>
            <a:ext cx="91440" cy="1234440"/>
          </a:xfrm>
          <a:prstGeom prst="rect">
            <a:avLst/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9"/>
          <p:cNvSpPr txBox="1"/>
          <p:nvPr/>
        </p:nvSpPr>
        <p:spPr>
          <a:xfrm>
            <a:off x="868680" y="23317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650" b="1">
                <a:solidFill>
                  <a:srgbClr val="FFFFFF"/>
                </a:solidFill>
                <a:latin typeface="Segoe UI"/>
              </a:rPr>
              <a:t>AI Forensic Screen</a:t>
            </a:r>
          </a:p>
        </p:txBody>
      </p:sp>
      <p:sp>
        <p:nvSpPr>
          <p:cNvPr id="10" name="s10"/>
          <p:cNvSpPr txBox="1"/>
          <p:nvPr/>
        </p:nvSpPr>
        <p:spPr>
          <a:xfrm>
            <a:off x="868680" y="275234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250" b="0">
                <a:solidFill>
                  <a:srgbClr val="9FB0C9"/>
                </a:solidFill>
                <a:latin typeface="Segoe UI"/>
              </a:rPr>
              <a:t>Template, metadata &amp; manipulation checks — advisory only</a:t>
            </a:r>
          </a:p>
        </p:txBody>
      </p:sp>
      <p:sp>
        <p:nvSpPr>
          <p:cNvPr id="11" name="s11"/>
          <p:cNvSpPr txBox="0"/>
          <p:nvPr/>
        </p:nvSpPr>
        <p:spPr>
          <a:xfrm>
            <a:off x="6172200" y="2148840"/>
            <a:ext cx="5394960" cy="12344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12"/>
          <p:cNvSpPr txBox="0"/>
          <p:nvPr/>
        </p:nvSpPr>
        <p:spPr>
          <a:xfrm>
            <a:off x="6172200" y="2148840"/>
            <a:ext cx="91440" cy="1234440"/>
          </a:xfrm>
          <a:prstGeom prst="rect">
            <a:avLst/>
          </a:prstGeom>
          <a:solidFill>
            <a:srgbClr val="17C3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13"/>
          <p:cNvSpPr txBox="1"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650" b="1">
                <a:solidFill>
                  <a:srgbClr val="FFFFFF"/>
                </a:solidFill>
                <a:latin typeface="Segoe UI"/>
              </a:rPr>
              <a:t>Mandatory Human Review</a:t>
            </a:r>
          </a:p>
        </p:txBody>
      </p:sp>
      <p:sp>
        <p:nvSpPr>
          <p:cNvPr id="14" name="s14"/>
          <p:cNvSpPr txBox="1"/>
          <p:nvPr/>
        </p:nvSpPr>
        <p:spPr>
          <a:xfrm>
            <a:off x="6492240" y="275234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250" b="0">
                <a:solidFill>
                  <a:srgbClr val="9FB0C9"/>
                </a:solidFill>
                <a:latin typeface="Segoe UI"/>
              </a:rPr>
              <a:t>Under 85% confidence always goes to a trained reviewer</a:t>
            </a:r>
          </a:p>
        </p:txBody>
      </p:sp>
      <p:sp>
        <p:nvSpPr>
          <p:cNvPr id="15" name="s15"/>
          <p:cNvSpPr txBox="0"/>
          <p:nvPr/>
        </p:nvSpPr>
        <p:spPr>
          <a:xfrm>
            <a:off x="548640" y="3566160"/>
            <a:ext cx="5394960" cy="12344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16"/>
          <p:cNvSpPr txBox="0"/>
          <p:nvPr/>
        </p:nvSpPr>
        <p:spPr>
          <a:xfrm>
            <a:off x="548640" y="3566160"/>
            <a:ext cx="91440" cy="1234440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17"/>
          <p:cNvSpPr txBox="1"/>
          <p:nvPr/>
        </p:nvSpPr>
        <p:spPr>
          <a:xfrm>
            <a:off x="868680" y="37490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650" b="1">
                <a:solidFill>
                  <a:srgbClr val="FFFFFF"/>
                </a:solidFill>
                <a:latin typeface="Segoe UI"/>
              </a:rPr>
              <a:t>Reputation-Staked Peers</a:t>
            </a:r>
          </a:p>
        </p:txBody>
      </p:sp>
      <p:sp>
        <p:nvSpPr>
          <p:cNvPr id="18" name="s18"/>
          <p:cNvSpPr txBox="1"/>
          <p:nvPr/>
        </p:nvSpPr>
        <p:spPr>
          <a:xfrm>
            <a:off x="868680" y="416966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250" b="0">
                <a:solidFill>
                  <a:srgbClr val="9FB0C9"/>
                </a:solidFill>
                <a:latin typeface="Segoe UI"/>
              </a:rPr>
              <a:t>Experts vouch with their own trust tier — a bad vouch costs their standing</a:t>
            </a:r>
          </a:p>
        </p:txBody>
      </p:sp>
      <p:sp>
        <p:nvSpPr>
          <p:cNvPr id="19" name="s19"/>
          <p:cNvSpPr txBox="0"/>
          <p:nvPr/>
        </p:nvSpPr>
        <p:spPr>
          <a:xfrm>
            <a:off x="6172200" y="3566160"/>
            <a:ext cx="5394960" cy="12344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20"/>
          <p:cNvSpPr txBox="0"/>
          <p:nvPr/>
        </p:nvSpPr>
        <p:spPr>
          <a:xfrm>
            <a:off x="6172200" y="3566160"/>
            <a:ext cx="91440" cy="1234440"/>
          </a:xfrm>
          <a:prstGeom prst="rect">
            <a:avLst/>
          </a:prstGeom>
          <a:solidFill>
            <a:srgbClr val="1FD696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21"/>
          <p:cNvSpPr txBox="1"/>
          <p:nvPr/>
        </p:nvSpPr>
        <p:spPr>
          <a:xfrm>
            <a:off x="6492240" y="37490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650" b="1">
                <a:solidFill>
                  <a:srgbClr val="FFFFFF"/>
                </a:solidFill>
                <a:latin typeface="Segoe UI"/>
              </a:rPr>
              <a:t>The Delivery Record</a:t>
            </a:r>
          </a:p>
        </p:txBody>
      </p:sp>
      <p:sp>
        <p:nvSpPr>
          <p:cNvPr id="22" name="s22"/>
          <p:cNvSpPr txBox="1"/>
          <p:nvPr/>
        </p:nvSpPr>
        <p:spPr>
          <a:xfrm>
            <a:off x="6492240" y="416966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250" b="0">
                <a:solidFill>
                  <a:srgbClr val="9FB0C9"/>
                </a:solidFill>
                <a:latin typeface="Segoe UI"/>
              </a:rPr>
              <a:t>Real clients, real work, SOL as the receipt — unfakeable</a:t>
            </a:r>
          </a:p>
        </p:txBody>
      </p:sp>
      <p:sp>
        <p:nvSpPr>
          <p:cNvPr id="23" name="s23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4999"/>
            </a:lnSpc>
            <a:r>
              <a:rPr lang="en-US" sz="1300" b="1" i="1">
                <a:solidFill>
                  <a:srgbClr val="17C3D6"/>
                </a:solidFill>
                <a:latin typeface="Segoe UI"/>
              </a:rPr>
              <a:t>A fake credential gets a task, fails delivery, triggers a dispute → trust weight drops instantly. Three confirmed disputes and it's revoked on-chain — the revocation itself a permanent, tamper-evident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3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50" b="1">
                <a:solidFill>
                  <a:srgbClr val="17C3D6"/>
                </a:solidFill>
                <a:latin typeface="Segoe UI"/>
              </a:rPr>
              <a:t>THE COMPETITIVE EDGE</a:t>
            </a:r>
          </a:p>
        </p:txBody>
      </p:sp>
      <p:sp>
        <p:nvSpPr>
          <p:cNvPr id="4" name="s4"/>
          <p:cNvSpPr txBox="1"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950" b="1">
                <a:solidFill>
                  <a:srgbClr val="6E7F9B"/>
                </a:solidFill>
                <a:latin typeface="Segoe UI"/>
              </a:rPr>
              <a:t>CREDCHAIN  ·  BUILT ON SOLANA</a:t>
            </a:r>
          </a:p>
        </p:txBody>
      </p:sp>
      <p:sp>
        <p:nvSpPr>
          <p:cNvPr id="5" name="s5"/>
          <p:cNvSpPr txBox="1"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lang="en-US" sz="950" b="0">
                <a:solidFill>
                  <a:srgbClr val="6E7F9B"/>
                </a:solidFill>
                <a:latin typeface="Segoe UI"/>
              </a:rPr>
              <a:t>6 / 9</a:t>
            </a:r>
          </a:p>
        </p:txBody>
      </p:sp>
      <p:sp>
        <p:nvSpPr>
          <p:cNvPr id="6" name="s6"/>
          <p:cNvSpPr txBox="1"/>
          <p:nvPr/>
        </p:nvSpPr>
        <p:spPr>
          <a:xfrm>
            <a:off x="548640" y="822960"/>
            <a:ext cx="11155680" cy="9601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2000"/>
            </a:lnSpc>
            <a:r>
              <a:rPr lang="en-US" sz="3200" b="1">
                <a:solidFill>
                  <a:srgbClr val="FFFFFF"/>
                </a:solidFill>
                <a:latin typeface="Segoe UI"/>
              </a:rPr>
              <a:t>Profiles say it. CredChain proves it.</a:t>
            </a:r>
          </a:p>
        </p:txBody>
      </p:sp>
      <p:sp>
        <p:nvSpPr>
          <p:cNvPr id="7" name="s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500" b="0">
                <a:solidFill>
                  <a:srgbClr val="9FB0C9"/>
                </a:solidFill>
                <a:latin typeface="Segoe UI"/>
              </a:rPr>
              <a:t>Other platforms rely on self-reported claims. CredChain proves it with cryptographic verification.</a:t>
            </a:r>
          </a:p>
        </p:txBody>
      </p:sp>
      <p:sp>
        <p:nvSpPr>
          <p:cNvPr id="8" name="s8"/>
          <p:cNvSpPr txBox="1"/>
          <p:nvPr/>
        </p:nvSpPr>
        <p:spPr>
          <a:xfrm>
            <a:off x="548640" y="21488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9FB0C9"/>
                </a:solidFill>
                <a:latin typeface="Segoe UI"/>
              </a:rPr>
              <a:t>Dimension</a:t>
            </a:r>
          </a:p>
        </p:txBody>
      </p:sp>
      <p:sp>
        <p:nvSpPr>
          <p:cNvPr id="9" name="s9"/>
          <p:cNvSpPr txBox="1"/>
          <p:nvPr/>
        </p:nvSpPr>
        <p:spPr>
          <a:xfrm>
            <a:off x="3749040" y="21488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9FB0C9"/>
                </a:solidFill>
                <a:latin typeface="Segoe UI"/>
              </a:rPr>
              <a:t>Other Platforms</a:t>
            </a:r>
          </a:p>
        </p:txBody>
      </p:sp>
      <p:sp>
        <p:nvSpPr>
          <p:cNvPr id="10" name="s10"/>
          <p:cNvSpPr txBox="1"/>
          <p:nvPr/>
        </p:nvSpPr>
        <p:spPr>
          <a:xfrm>
            <a:off x="7772400" y="21488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1FD696"/>
                </a:solidFill>
                <a:latin typeface="Segoe UI"/>
              </a:rPr>
              <a:t>CredChain</a:t>
            </a:r>
          </a:p>
        </p:txBody>
      </p:sp>
      <p:sp>
        <p:nvSpPr>
          <p:cNvPr id="11" name="s11"/>
          <p:cNvSpPr txBox="0"/>
          <p:nvPr/>
        </p:nvSpPr>
        <p:spPr>
          <a:xfrm>
            <a:off x="548640" y="2560320"/>
            <a:ext cx="11091672" cy="512064"/>
          </a:xfrm>
          <a:prstGeom prst="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12"/>
          <p:cNvSpPr txBox="1"/>
          <p:nvPr/>
        </p:nvSpPr>
        <p:spPr>
          <a:xfrm>
            <a:off x="731520" y="2560320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Segoe UI"/>
              </a:rPr>
              <a:t>Verification</a:t>
            </a:r>
          </a:p>
        </p:txBody>
      </p:sp>
      <p:sp>
        <p:nvSpPr>
          <p:cNvPr id="13" name="s13"/>
          <p:cNvSpPr txBox="1"/>
          <p:nvPr/>
        </p:nvSpPr>
        <p:spPr>
          <a:xfrm>
            <a:off x="3794760" y="2560320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150" b="0">
                <a:solidFill>
                  <a:srgbClr val="9FB0C9"/>
                </a:solidFill>
                <a:latin typeface="Segoe UI"/>
              </a:rPr>
              <a:t>✕  Self-reported, unverifiable</a:t>
            </a:r>
          </a:p>
        </p:txBody>
      </p:sp>
      <p:sp>
        <p:nvSpPr>
          <p:cNvPr id="14" name="s14"/>
          <p:cNvSpPr txBox="1"/>
          <p:nvPr/>
        </p:nvSpPr>
        <p:spPr>
          <a:xfrm>
            <a:off x="7772400" y="2560320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150" b="1">
                <a:solidFill>
                  <a:srgbClr val="1FD696"/>
                </a:solidFill>
                <a:latin typeface="Segoe UI"/>
              </a:rPr>
              <a:t>✓  On-chain proof, verified in &lt;1 second</a:t>
            </a:r>
          </a:p>
        </p:txBody>
      </p:sp>
      <p:sp>
        <p:nvSpPr>
          <p:cNvPr id="15" name="s15"/>
          <p:cNvSpPr txBox="0"/>
          <p:nvPr/>
        </p:nvSpPr>
        <p:spPr>
          <a:xfrm>
            <a:off x="548640" y="3127248"/>
            <a:ext cx="11091672" cy="512064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16"/>
          <p:cNvSpPr txBox="1"/>
          <p:nvPr/>
        </p:nvSpPr>
        <p:spPr>
          <a:xfrm>
            <a:off x="731520" y="312724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Segoe UI"/>
              </a:rPr>
              <a:t>Fraud Resistance</a:t>
            </a:r>
          </a:p>
        </p:txBody>
      </p:sp>
      <p:sp>
        <p:nvSpPr>
          <p:cNvPr id="17" name="s17"/>
          <p:cNvSpPr txBox="1"/>
          <p:nvPr/>
        </p:nvSpPr>
        <p:spPr>
          <a:xfrm>
            <a:off x="3794760" y="3127248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150" b="0">
                <a:solidFill>
                  <a:srgbClr val="9FB0C9"/>
                </a:solidFill>
                <a:latin typeface="Segoe UI"/>
              </a:rPr>
              <a:t>✕  Anyone can claim any skill</a:t>
            </a:r>
          </a:p>
        </p:txBody>
      </p:sp>
      <p:sp>
        <p:nvSpPr>
          <p:cNvPr id="18" name="s18"/>
          <p:cNvSpPr txBox="1"/>
          <p:nvPr/>
        </p:nvSpPr>
        <p:spPr>
          <a:xfrm>
            <a:off x="7772400" y="3127248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150" b="1">
                <a:solidFill>
                  <a:srgbClr val="1FD696"/>
                </a:solidFill>
                <a:latin typeface="Segoe UI"/>
              </a:rPr>
              <a:t>✓  AI + human review + reputation-staked peers</a:t>
            </a:r>
          </a:p>
        </p:txBody>
      </p:sp>
      <p:sp>
        <p:nvSpPr>
          <p:cNvPr id="19" name="s19"/>
          <p:cNvSpPr txBox="0"/>
          <p:nvPr/>
        </p:nvSpPr>
        <p:spPr>
          <a:xfrm>
            <a:off x="548640" y="3694176"/>
            <a:ext cx="11091672" cy="512064"/>
          </a:xfrm>
          <a:prstGeom prst="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20"/>
          <p:cNvSpPr txBox="1"/>
          <p:nvPr/>
        </p:nvSpPr>
        <p:spPr>
          <a:xfrm>
            <a:off x="731520" y="3694176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Segoe UI"/>
              </a:rPr>
              <a:t>Payment</a:t>
            </a:r>
          </a:p>
        </p:txBody>
      </p:sp>
      <p:sp>
        <p:nvSpPr>
          <p:cNvPr id="21" name="s21"/>
          <p:cNvSpPr txBox="1"/>
          <p:nvPr/>
        </p:nvSpPr>
        <p:spPr>
          <a:xfrm>
            <a:off x="3794760" y="3694176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150" b="0">
                <a:solidFill>
                  <a:srgbClr val="9FB0C9"/>
                </a:solidFill>
                <a:latin typeface="Segoe UI"/>
              </a:rPr>
              <a:t>✕  No built-in way to get paid</a:t>
            </a:r>
          </a:p>
        </p:txBody>
      </p:sp>
      <p:sp>
        <p:nvSpPr>
          <p:cNvPr id="22" name="s22"/>
          <p:cNvSpPr txBox="1"/>
          <p:nvPr/>
        </p:nvSpPr>
        <p:spPr>
          <a:xfrm>
            <a:off x="7772400" y="3694176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150" b="1">
                <a:solidFill>
                  <a:srgbClr val="1FD696"/>
                </a:solidFill>
                <a:latin typeface="Segoe UI"/>
              </a:rPr>
              <a:t>✓  Escrowed SOL, released on delivery</a:t>
            </a:r>
          </a:p>
        </p:txBody>
      </p:sp>
      <p:sp>
        <p:nvSpPr>
          <p:cNvPr id="23" name="s23"/>
          <p:cNvSpPr txBox="0"/>
          <p:nvPr/>
        </p:nvSpPr>
        <p:spPr>
          <a:xfrm>
            <a:off x="548640" y="4261104"/>
            <a:ext cx="11091672" cy="512064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s24"/>
          <p:cNvSpPr txBox="1"/>
          <p:nvPr/>
        </p:nvSpPr>
        <p:spPr>
          <a:xfrm>
            <a:off x="731520" y="4261104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Segoe UI"/>
              </a:rPr>
              <a:t>Global Trust</a:t>
            </a:r>
          </a:p>
        </p:txBody>
      </p:sp>
      <p:sp>
        <p:nvSpPr>
          <p:cNvPr id="25" name="s25"/>
          <p:cNvSpPr txBox="1"/>
          <p:nvPr/>
        </p:nvSpPr>
        <p:spPr>
          <a:xfrm>
            <a:off x="3794760" y="4261104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150" b="0">
                <a:solidFill>
                  <a:srgbClr val="9FB0C9"/>
                </a:solidFill>
                <a:latin typeface="Segoe UI"/>
              </a:rPr>
              <a:t>✕  Biased toward known institutions</a:t>
            </a:r>
          </a:p>
        </p:txBody>
      </p:sp>
      <p:sp>
        <p:nvSpPr>
          <p:cNvPr id="26" name="s26"/>
          <p:cNvSpPr txBox="1"/>
          <p:nvPr/>
        </p:nvSpPr>
        <p:spPr>
          <a:xfrm>
            <a:off x="7772400" y="4261104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150" b="1">
                <a:solidFill>
                  <a:srgbClr val="1FD696"/>
                </a:solidFill>
                <a:latin typeface="Segoe UI"/>
              </a:rPr>
              <a:t>✓  Evidence-only score — same for every country</a:t>
            </a:r>
          </a:p>
        </p:txBody>
      </p:sp>
      <p:sp>
        <p:nvSpPr>
          <p:cNvPr id="27" name="s27"/>
          <p:cNvSpPr txBox="0"/>
          <p:nvPr/>
        </p:nvSpPr>
        <p:spPr>
          <a:xfrm>
            <a:off x="548640" y="4828032"/>
            <a:ext cx="11091672" cy="512064"/>
          </a:xfrm>
          <a:prstGeom prst="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28"/>
          <p:cNvSpPr txBox="1"/>
          <p:nvPr/>
        </p:nvSpPr>
        <p:spPr>
          <a:xfrm>
            <a:off x="731520" y="4828032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Segoe UI"/>
              </a:rPr>
              <a:t>Cost to Scale</a:t>
            </a:r>
          </a:p>
        </p:txBody>
      </p:sp>
      <p:sp>
        <p:nvSpPr>
          <p:cNvPr id="29" name="s29"/>
          <p:cNvSpPr txBox="1"/>
          <p:nvPr/>
        </p:nvSpPr>
        <p:spPr>
          <a:xfrm>
            <a:off x="3794760" y="4828032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150" b="0">
                <a:solidFill>
                  <a:srgbClr val="9FB0C9"/>
                </a:solidFill>
                <a:latin typeface="Segoe UI"/>
              </a:rPr>
              <a:t>✕  Platform fees, banking friction</a:t>
            </a:r>
          </a:p>
        </p:txBody>
      </p:sp>
      <p:sp>
        <p:nvSpPr>
          <p:cNvPr id="30" name="s30"/>
          <p:cNvSpPr txBox="1"/>
          <p:nvPr/>
        </p:nvSpPr>
        <p:spPr>
          <a:xfrm>
            <a:off x="7772400" y="4828032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150" b="1">
                <a:solidFill>
                  <a:srgbClr val="1FD696"/>
                </a:solidFill>
                <a:latin typeface="Segoe UI"/>
              </a:rPr>
              <a:t>✓  Under $2 to mint 10,000 credentials</a:t>
            </a:r>
          </a:p>
        </p:txBody>
      </p:sp>
      <p:sp>
        <p:nvSpPr>
          <p:cNvPr id="31" name="s31"/>
          <p:cNvSpPr txBox="0"/>
          <p:nvPr/>
        </p:nvSpPr>
        <p:spPr>
          <a:xfrm>
            <a:off x="548640" y="5394960"/>
            <a:ext cx="11091672" cy="512064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s32"/>
          <p:cNvSpPr txBox="1"/>
          <p:nvPr/>
        </p:nvSpPr>
        <p:spPr>
          <a:xfrm>
            <a:off x="731520" y="5394960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Segoe UI"/>
              </a:rPr>
              <a:t>Business Model</a:t>
            </a:r>
          </a:p>
        </p:txBody>
      </p:sp>
      <p:sp>
        <p:nvSpPr>
          <p:cNvPr id="33" name="s33"/>
          <p:cNvSpPr txBox="1"/>
          <p:nvPr/>
        </p:nvSpPr>
        <p:spPr>
          <a:xfrm>
            <a:off x="3794760" y="5394960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150" b="0">
                <a:solidFill>
                  <a:srgbClr val="9FB0C9"/>
                </a:solidFill>
                <a:latin typeface="Segoe UI"/>
              </a:rPr>
              <a:t>✕  Unclear monetization</a:t>
            </a:r>
          </a:p>
        </p:txBody>
      </p:sp>
      <p:sp>
        <p:nvSpPr>
          <p:cNvPr id="34" name="s34"/>
          <p:cNvSpPr txBox="1"/>
          <p:nvPr/>
        </p:nvSpPr>
        <p:spPr>
          <a:xfrm>
            <a:off x="7772400" y="5394960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150" b="1">
                <a:solidFill>
                  <a:srgbClr val="1FD696"/>
                </a:solidFill>
                <a:latin typeface="Segoe UI"/>
              </a:rPr>
              <a:t>✓  Employer fee + institutional issuance SaaS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3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50" b="1">
                <a:solidFill>
                  <a:srgbClr val="1FD696"/>
                </a:solidFill>
                <a:latin typeface="Segoe UI"/>
              </a:rPr>
              <a:t>EXECUTION  ·  GO TO MARKET</a:t>
            </a:r>
          </a:p>
        </p:txBody>
      </p:sp>
      <p:sp>
        <p:nvSpPr>
          <p:cNvPr id="4" name="s4"/>
          <p:cNvSpPr txBox="1"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950" b="1">
                <a:solidFill>
                  <a:srgbClr val="6E7F9B"/>
                </a:solidFill>
                <a:latin typeface="Segoe UI"/>
              </a:rPr>
              <a:t>CREDCHAIN  ·  BUILT ON SOLANA</a:t>
            </a:r>
          </a:p>
        </p:txBody>
      </p:sp>
      <p:sp>
        <p:nvSpPr>
          <p:cNvPr id="5" name="s5"/>
          <p:cNvSpPr txBox="1"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lang="en-US" sz="950" b="0">
                <a:solidFill>
                  <a:srgbClr val="6E7F9B"/>
                </a:solidFill>
                <a:latin typeface="Segoe UI"/>
              </a:rPr>
              <a:t>7 / 9</a:t>
            </a:r>
          </a:p>
        </p:txBody>
      </p:sp>
      <p:sp>
        <p:nvSpPr>
          <p:cNvPr id="6" name="s6"/>
          <p:cNvSpPr txBox="1"/>
          <p:nvPr/>
        </p:nvSpPr>
        <p:spPr>
          <a:xfrm>
            <a:off x="548640" y="822960"/>
            <a:ext cx="11155680" cy="9601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2000"/>
            </a:lnSpc>
            <a:r>
              <a:rPr lang="en-US" sz="3200" b="1">
                <a:solidFill>
                  <a:srgbClr val="FFFFFF"/>
                </a:solidFill>
                <a:latin typeface="Segoe UI"/>
              </a:rPr>
              <a:t>Nigeria first — the pain is acute, the market is huge.</a:t>
            </a:r>
          </a:p>
        </p:txBody>
      </p:sp>
      <p:sp>
        <p:nvSpPr>
          <p:cNvPr id="7" name="s7"/>
          <p:cNvSpPr txBox="0"/>
          <p:nvPr/>
        </p:nvSpPr>
        <p:spPr>
          <a:xfrm>
            <a:off x="548640" y="2148840"/>
            <a:ext cx="2606040" cy="164592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8"/>
          <p:cNvSpPr txBox="0"/>
          <p:nvPr/>
        </p:nvSpPr>
        <p:spPr>
          <a:xfrm>
            <a:off x="777240" y="2331720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1</a:t>
            </a:r>
          </a:p>
        </p:txBody>
      </p:sp>
      <p:sp>
        <p:nvSpPr>
          <p:cNvPr id="9" name="s9"/>
          <p:cNvSpPr txBox="1"/>
          <p:nvPr/>
        </p:nvSpPr>
        <p:spPr>
          <a:xfrm>
            <a:off x="749808" y="292608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Segoe UI"/>
              </a:rPr>
              <a:t>Beachhead</a:t>
            </a:r>
          </a:p>
        </p:txBody>
      </p:sp>
      <p:sp>
        <p:nvSpPr>
          <p:cNvPr id="10" name="s10"/>
          <p:cNvSpPr txBox="1"/>
          <p:nvPr/>
        </p:nvSpPr>
        <p:spPr>
          <a:xfrm>
            <a:off x="749808" y="327355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5000"/>
            </a:lnSpc>
            <a:r>
              <a:rPr lang="en-US" sz="1050" b="0">
                <a:solidFill>
                  <a:srgbClr val="9FB0C9"/>
                </a:solidFill>
                <a:latin typeface="Segoe UI"/>
              </a:rPr>
              <a:t>Hackathons, bootcamps, student tech clubs — fast decisions</a:t>
            </a:r>
          </a:p>
        </p:txBody>
      </p:sp>
      <p:sp>
        <p:nvSpPr>
          <p:cNvPr id="11" name="s11"/>
          <p:cNvSpPr txBox="1"/>
          <p:nvPr/>
        </p:nvSpPr>
        <p:spPr>
          <a:xfrm>
            <a:off x="3163824" y="278892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500" b="1">
                <a:solidFill>
                  <a:srgbClr val="6E7F9B"/>
                </a:solidFill>
                <a:latin typeface="Segoe UI"/>
              </a:rPr>
              <a:t>→</a:t>
            </a:r>
          </a:p>
        </p:txBody>
      </p:sp>
      <p:sp>
        <p:nvSpPr>
          <p:cNvPr id="12" name="s12"/>
          <p:cNvSpPr txBox="0"/>
          <p:nvPr/>
        </p:nvSpPr>
        <p:spPr>
          <a:xfrm>
            <a:off x="3346704" y="2148840"/>
            <a:ext cx="2606040" cy="164592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13"/>
          <p:cNvSpPr txBox="0"/>
          <p:nvPr/>
        </p:nvSpPr>
        <p:spPr>
          <a:xfrm>
            <a:off x="3575304" y="2331720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2</a:t>
            </a:r>
          </a:p>
        </p:txBody>
      </p:sp>
      <p:sp>
        <p:nvSpPr>
          <p:cNvPr id="14" name="s14"/>
          <p:cNvSpPr txBox="1"/>
          <p:nvPr/>
        </p:nvSpPr>
        <p:spPr>
          <a:xfrm>
            <a:off x="3547872" y="292608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Segoe UI"/>
              </a:rPr>
              <a:t>Student Growth</a:t>
            </a:r>
          </a:p>
        </p:txBody>
      </p:sp>
      <p:sp>
        <p:nvSpPr>
          <p:cNvPr id="15" name="s15"/>
          <p:cNvSpPr txBox="1"/>
          <p:nvPr/>
        </p:nvSpPr>
        <p:spPr>
          <a:xfrm>
            <a:off x="3547872" y="327355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5000"/>
            </a:lnSpc>
            <a:r>
              <a:rPr lang="en-US" sz="1050" b="0">
                <a:solidFill>
                  <a:srgbClr val="9FB0C9"/>
                </a:solidFill>
                <a:latin typeface="Segoe UI"/>
              </a:rPr>
              <a:t>Verified profiles spread organically as students share proof</a:t>
            </a:r>
          </a:p>
        </p:txBody>
      </p:sp>
      <p:sp>
        <p:nvSpPr>
          <p:cNvPr id="16" name="s16"/>
          <p:cNvSpPr txBox="1"/>
          <p:nvPr/>
        </p:nvSpPr>
        <p:spPr>
          <a:xfrm>
            <a:off x="5961888" y="278892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500" b="1">
                <a:solidFill>
                  <a:srgbClr val="6E7F9B"/>
                </a:solidFill>
                <a:latin typeface="Segoe UI"/>
              </a:rPr>
              <a:t>→</a:t>
            </a:r>
          </a:p>
        </p:txBody>
      </p:sp>
      <p:sp>
        <p:nvSpPr>
          <p:cNvPr id="17" name="s17"/>
          <p:cNvSpPr txBox="0"/>
          <p:nvPr/>
        </p:nvSpPr>
        <p:spPr>
          <a:xfrm>
            <a:off x="6144768" y="2148840"/>
            <a:ext cx="2606040" cy="164592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18"/>
          <p:cNvSpPr txBox="0"/>
          <p:nvPr/>
        </p:nvSpPr>
        <p:spPr>
          <a:xfrm>
            <a:off x="6373368" y="2331720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3</a:t>
            </a:r>
          </a:p>
        </p:txBody>
      </p:sp>
      <p:sp>
        <p:nvSpPr>
          <p:cNvPr id="19" name="s19"/>
          <p:cNvSpPr txBox="1"/>
          <p:nvPr/>
        </p:nvSpPr>
        <p:spPr>
          <a:xfrm>
            <a:off x="6345936" y="292608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Segoe UI"/>
              </a:rPr>
              <a:t>Institutional</a:t>
            </a:r>
          </a:p>
        </p:txBody>
      </p:sp>
      <p:sp>
        <p:nvSpPr>
          <p:cNvPr id="20" name="s20"/>
          <p:cNvSpPr txBox="1"/>
          <p:nvPr/>
        </p:nvSpPr>
        <p:spPr>
          <a:xfrm>
            <a:off x="6345936" y="327355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5000"/>
            </a:lnSpc>
            <a:r>
              <a:rPr lang="en-US" sz="1050" b="0">
                <a:solidFill>
                  <a:srgbClr val="9FB0C9"/>
                </a:solidFill>
                <a:latin typeface="Segoe UI"/>
              </a:rPr>
              <a:t>Universities &amp; registries (WAEC, CAC, NUC) join the network</a:t>
            </a:r>
          </a:p>
        </p:txBody>
      </p:sp>
      <p:sp>
        <p:nvSpPr>
          <p:cNvPr id="21" name="s21"/>
          <p:cNvSpPr txBox="1"/>
          <p:nvPr/>
        </p:nvSpPr>
        <p:spPr>
          <a:xfrm>
            <a:off x="8759952" y="278892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500" b="1">
                <a:solidFill>
                  <a:srgbClr val="6E7F9B"/>
                </a:solidFill>
                <a:latin typeface="Segoe UI"/>
              </a:rPr>
              <a:t>→</a:t>
            </a:r>
          </a:p>
        </p:txBody>
      </p:sp>
      <p:sp>
        <p:nvSpPr>
          <p:cNvPr id="22" name="s22"/>
          <p:cNvSpPr txBox="0"/>
          <p:nvPr/>
        </p:nvSpPr>
        <p:spPr>
          <a:xfrm>
            <a:off x="8942832" y="2148840"/>
            <a:ext cx="2606040" cy="164592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23"/>
          <p:cNvSpPr txBox="0"/>
          <p:nvPr/>
        </p:nvSpPr>
        <p:spPr>
          <a:xfrm>
            <a:off x="9171432" y="2331720"/>
            <a:ext cx="384048" cy="384048"/>
          </a:xfrm>
          <a:prstGeom prst="ellipse">
            <a:avLst/>
          </a:prstGeom>
          <a:solidFill>
            <a:srgbClr val="17C3D6"/>
          </a:solidFill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500" b="1">
                <a:solidFill>
                  <a:srgbClr val="0A1628"/>
                </a:solidFill>
                <a:latin typeface="Segoe UI"/>
              </a:rPr>
              <a:t>4</a:t>
            </a:r>
          </a:p>
        </p:txBody>
      </p:sp>
      <p:sp>
        <p:nvSpPr>
          <p:cNvPr id="24" name="s24"/>
          <p:cNvSpPr txBox="1"/>
          <p:nvPr/>
        </p:nvSpPr>
        <p:spPr>
          <a:xfrm>
            <a:off x="9144000" y="292608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Segoe UI"/>
              </a:rPr>
              <a:t>Employer Adoption</a:t>
            </a:r>
          </a:p>
        </p:txBody>
      </p:sp>
      <p:sp>
        <p:nvSpPr>
          <p:cNvPr id="25" name="s25"/>
          <p:cNvSpPr txBox="1"/>
          <p:nvPr/>
        </p:nvSpPr>
        <p:spPr>
          <a:xfrm>
            <a:off x="9144000" y="327355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5000"/>
            </a:lnSpc>
            <a:r>
              <a:rPr lang="en-US" sz="1050" b="0">
                <a:solidFill>
                  <a:srgbClr val="9FB0C9"/>
                </a:solidFill>
                <a:latin typeface="Segoe UI"/>
              </a:rPr>
              <a:t>Employers arrive last — when talent is deep, verification instant</a:t>
            </a:r>
          </a:p>
        </p:txBody>
      </p:sp>
      <p:sp>
        <p:nvSpPr>
          <p:cNvPr id="26" name="s26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17C3D6"/>
                </a:solidFill>
                <a:latin typeface="Segoe UI"/>
              </a:rPr>
              <a:t>NIGERIA-SPECIFIC FEATURES, BUILT IN FROM DAY ONE</a:t>
            </a:r>
          </a:p>
        </p:txBody>
      </p:sp>
      <p:sp>
        <p:nvSpPr>
          <p:cNvPr id="27" name="s27"/>
          <p:cNvSpPr txBox="0"/>
          <p:nvPr/>
        </p:nvSpPr>
        <p:spPr>
          <a:xfrm>
            <a:off x="548640" y="4480560"/>
            <a:ext cx="5394960" cy="621792"/>
          </a:xfrm>
          <a:prstGeom prst="roundRect">
            <a:avLst/>
          </a:prstGeom>
          <a:solidFill>
            <a:srgbClr val="0F1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28"/>
          <p:cNvSpPr txBox="1"/>
          <p:nvPr/>
        </p:nvSpPr>
        <p:spPr>
          <a:xfrm>
            <a:off x="777240" y="4480560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200" b="1">
                <a:solidFill>
                  <a:srgbClr val="1FD696"/>
                </a:solidFill>
                <a:latin typeface="Segoe UI"/>
              </a:rPr>
              <a:t>Instant Statement of Result</a:t>
            </a:r>
          </a:p>
        </p:txBody>
      </p:sp>
      <p:sp>
        <p:nvSpPr>
          <p:cNvPr id="29" name="s29"/>
          <p:cNvSpPr txBox="1"/>
          <p:nvPr/>
        </p:nvSpPr>
        <p:spPr>
          <a:xfrm>
            <a:off x="3291840" y="4480560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000" b="0">
                <a:solidFill>
                  <a:srgbClr val="9FB0C9"/>
                </a:solidFill>
                <a:latin typeface="Segoe UI"/>
              </a:rPr>
              <a:t>On-chain the moment a registrar confirms — no 12-month wait</a:t>
            </a:r>
          </a:p>
        </p:txBody>
      </p:sp>
      <p:sp>
        <p:nvSpPr>
          <p:cNvPr id="30" name="s30"/>
          <p:cNvSpPr txBox="0"/>
          <p:nvPr/>
        </p:nvSpPr>
        <p:spPr>
          <a:xfrm>
            <a:off x="6172200" y="4480560"/>
            <a:ext cx="5394960" cy="621792"/>
          </a:xfrm>
          <a:prstGeom prst="roundRect">
            <a:avLst/>
          </a:prstGeom>
          <a:solidFill>
            <a:srgbClr val="0F1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31"/>
          <p:cNvSpPr txBox="1"/>
          <p:nvPr/>
        </p:nvSpPr>
        <p:spPr>
          <a:xfrm>
            <a:off x="6400800" y="4480560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200" b="1">
                <a:solidFill>
                  <a:srgbClr val="1FD696"/>
                </a:solidFill>
                <a:latin typeface="Segoe UI"/>
              </a:rPr>
              <a:t>NYSC Pre-Validation</a:t>
            </a:r>
          </a:p>
        </p:txBody>
      </p:sp>
      <p:sp>
        <p:nvSpPr>
          <p:cNvPr id="32" name="s32"/>
          <p:cNvSpPr txBox="1"/>
          <p:nvPr/>
        </p:nvSpPr>
        <p:spPr>
          <a:xfrm>
            <a:off x="8915400" y="4480560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000" b="0">
                <a:solidFill>
                  <a:srgbClr val="9FB0C9"/>
                </a:solidFill>
                <a:latin typeface="Segoe UI"/>
              </a:rPr>
              <a:t>Flags Senate List mismatches months before mobilization</a:t>
            </a:r>
          </a:p>
        </p:txBody>
      </p:sp>
      <p:sp>
        <p:nvSpPr>
          <p:cNvPr id="33" name="s33"/>
          <p:cNvSpPr txBox="0"/>
          <p:nvPr/>
        </p:nvSpPr>
        <p:spPr>
          <a:xfrm>
            <a:off x="548640" y="5193792"/>
            <a:ext cx="5394960" cy="621792"/>
          </a:xfrm>
          <a:prstGeom prst="roundRect">
            <a:avLst/>
          </a:prstGeom>
          <a:solidFill>
            <a:srgbClr val="0F1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s34"/>
          <p:cNvSpPr txBox="1"/>
          <p:nvPr/>
        </p:nvSpPr>
        <p:spPr>
          <a:xfrm>
            <a:off x="777240" y="5193792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200" b="1">
                <a:solidFill>
                  <a:srgbClr val="1FD696"/>
                </a:solidFill>
                <a:latin typeface="Segoe UI"/>
              </a:rPr>
              <a:t>Global Trust Pass</a:t>
            </a:r>
          </a:p>
        </p:txBody>
      </p:sp>
      <p:sp>
        <p:nvSpPr>
          <p:cNvPr id="35" name="s35"/>
          <p:cNvSpPr txBox="1"/>
          <p:nvPr/>
        </p:nvSpPr>
        <p:spPr>
          <a:xfrm>
            <a:off x="3291840" y="5193792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000" b="0">
                <a:solidFill>
                  <a:srgbClr val="9FB0C9"/>
                </a:solidFill>
                <a:latin typeface="Segoe UI"/>
              </a:rPr>
              <a:t>Academic record + national ID hash — hireable anywhere</a:t>
            </a:r>
          </a:p>
        </p:txBody>
      </p:sp>
      <p:sp>
        <p:nvSpPr>
          <p:cNvPr id="36" name="s36"/>
          <p:cNvSpPr txBox="0"/>
          <p:nvPr/>
        </p:nvSpPr>
        <p:spPr>
          <a:xfrm>
            <a:off x="6172200" y="5193792"/>
            <a:ext cx="5394960" cy="621792"/>
          </a:xfrm>
          <a:prstGeom prst="roundRect">
            <a:avLst/>
          </a:prstGeom>
          <a:solidFill>
            <a:srgbClr val="0F1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37"/>
          <p:cNvSpPr txBox="1"/>
          <p:nvPr/>
        </p:nvSpPr>
        <p:spPr>
          <a:xfrm>
            <a:off x="6400800" y="5193792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200" b="1">
                <a:solidFill>
                  <a:srgbClr val="1FD696"/>
                </a:solidFill>
                <a:latin typeface="Segoe UI"/>
              </a:rPr>
              <a:t>USSD Offline Pass</a:t>
            </a:r>
          </a:p>
        </p:txBody>
      </p:sp>
      <p:sp>
        <p:nvSpPr>
          <p:cNvPr id="38" name="s38"/>
          <p:cNvSpPr txBox="1"/>
          <p:nvPr/>
        </p:nvSpPr>
        <p:spPr>
          <a:xfrm>
            <a:off x="8915400" y="5193792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000" b="0">
                <a:solidFill>
                  <a:srgbClr val="9FB0C9"/>
                </a:solidFill>
                <a:latin typeface="Segoe UI"/>
              </a:rPr>
              <a:t>Credential verification on basic phones, minimal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3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50" b="1">
                <a:solidFill>
                  <a:srgbClr val="1FD696"/>
                </a:solidFill>
                <a:latin typeface="Segoe UI"/>
              </a:rPr>
              <a:t>IMPACT &amp; FEASIBILITY</a:t>
            </a:r>
          </a:p>
        </p:txBody>
      </p:sp>
      <p:sp>
        <p:nvSpPr>
          <p:cNvPr id="4" name="s4"/>
          <p:cNvSpPr txBox="1"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950" b="1">
                <a:solidFill>
                  <a:srgbClr val="6E7F9B"/>
                </a:solidFill>
                <a:latin typeface="Segoe UI"/>
              </a:rPr>
              <a:t>CREDCHAIN  ·  BUILT ON SOLANA</a:t>
            </a:r>
          </a:p>
        </p:txBody>
      </p:sp>
      <p:sp>
        <p:nvSpPr>
          <p:cNvPr id="5" name="s5"/>
          <p:cNvSpPr txBox="1"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lang="en-US" sz="950" b="0">
                <a:solidFill>
                  <a:srgbClr val="6E7F9B"/>
                </a:solidFill>
                <a:latin typeface="Segoe UI"/>
              </a:rPr>
              <a:t>8 / 9</a:t>
            </a:r>
          </a:p>
        </p:txBody>
      </p:sp>
      <p:sp>
        <p:nvSpPr>
          <p:cNvPr id="6" name="s6"/>
          <p:cNvSpPr txBox="1"/>
          <p:nvPr/>
        </p:nvSpPr>
        <p:spPr>
          <a:xfrm>
            <a:off x="548640" y="822960"/>
            <a:ext cx="11155680" cy="9601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2000"/>
            </a:lnSpc>
            <a:r>
              <a:rPr lang="en-US" sz="3200" b="1">
                <a:solidFill>
                  <a:srgbClr val="FFFFFF"/>
                </a:solidFill>
                <a:latin typeface="Segoe UI"/>
              </a:rPr>
              <a:t>Not a concept. A working system.</a:t>
            </a:r>
          </a:p>
        </p:txBody>
      </p:sp>
      <p:sp>
        <p:nvSpPr>
          <p:cNvPr id="7" name="s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500" b="0">
                <a:solidFill>
                  <a:srgbClr val="9FB0C9"/>
                </a:solidFill>
                <a:latin typeface="Segoe UI"/>
              </a:rPr>
              <a:t>What's built and functioning today — not roadmap promises.</a:t>
            </a:r>
          </a:p>
        </p:txBody>
      </p:sp>
      <p:sp>
        <p:nvSpPr>
          <p:cNvPr id="8" name="s8"/>
          <p:cNvSpPr txBox="0"/>
          <p:nvPr/>
        </p:nvSpPr>
        <p:spPr>
          <a:xfrm>
            <a:off x="548640" y="2148840"/>
            <a:ext cx="3520440" cy="32918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9"/>
          <p:cNvSpPr txBox="0"/>
          <p:nvPr/>
        </p:nvSpPr>
        <p:spPr>
          <a:xfrm>
            <a:off x="548640" y="2148840"/>
            <a:ext cx="3520440" cy="502920"/>
          </a:xfrm>
          <a:prstGeom prst="rect">
            <a:avLst/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10"/>
          <p:cNvSpPr txBox="1"/>
          <p:nvPr/>
        </p:nvSpPr>
        <p:spPr>
          <a:xfrm>
            <a:off x="777240" y="214884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350" b="1">
                <a:solidFill>
                  <a:srgbClr val="0A1628"/>
                </a:solidFill>
                <a:latin typeface="Segoe UI"/>
              </a:rPr>
              <a:t>Trust &amp; Identity</a:t>
            </a:r>
          </a:p>
        </p:txBody>
      </p:sp>
      <p:sp>
        <p:nvSpPr>
          <p:cNvPr id="11" name="s11"/>
          <p:cNvSpPr txBox="1"/>
          <p:nvPr/>
        </p:nvSpPr>
        <p:spPr>
          <a:xfrm>
            <a:off x="777240" y="28346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2E6BFF"/>
                </a:solidFill>
                <a:latin typeface="Segoe UI"/>
              </a:rPr>
              <a:t>✓</a:t>
            </a:r>
          </a:p>
        </p:txBody>
      </p:sp>
      <p:sp>
        <p:nvSpPr>
          <p:cNvPr id="12" name="s12"/>
          <p:cNvSpPr txBox="1"/>
          <p:nvPr/>
        </p:nvSpPr>
        <p:spPr>
          <a:xfrm>
            <a:off x="1097280" y="283464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150" b="0">
                <a:solidFill>
                  <a:srgbClr val="9FB0C9"/>
                </a:solidFill>
                <a:latin typeface="Segoe UI"/>
              </a:rPr>
              <a:t>Auth: email/password + Google OAuth</a:t>
            </a:r>
          </a:p>
        </p:txBody>
      </p:sp>
      <p:sp>
        <p:nvSpPr>
          <p:cNvPr id="13" name="s13"/>
          <p:cNvSpPr txBox="1"/>
          <p:nvPr/>
        </p:nvSpPr>
        <p:spPr>
          <a:xfrm>
            <a:off x="777240" y="367588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2E6BFF"/>
                </a:solidFill>
                <a:latin typeface="Segoe UI"/>
              </a:rPr>
              <a:t>✓</a:t>
            </a:r>
          </a:p>
        </p:txBody>
      </p:sp>
      <p:sp>
        <p:nvSpPr>
          <p:cNvPr id="14" name="s14"/>
          <p:cNvSpPr txBox="1"/>
          <p:nvPr/>
        </p:nvSpPr>
        <p:spPr>
          <a:xfrm>
            <a:off x="1097280" y="3675888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150" b="0">
                <a:solidFill>
                  <a:srgbClr val="9FB0C9"/>
                </a:solidFill>
                <a:latin typeface="Segoe UI"/>
              </a:rPr>
              <a:t>4-tier issuer verification (DNS → KYC → admin)</a:t>
            </a:r>
          </a:p>
        </p:txBody>
      </p:sp>
      <p:sp>
        <p:nvSpPr>
          <p:cNvPr id="15" name="s15"/>
          <p:cNvSpPr txBox="1"/>
          <p:nvPr/>
        </p:nvSpPr>
        <p:spPr>
          <a:xfrm>
            <a:off x="777240" y="4517136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2E6BFF"/>
                </a:solidFill>
                <a:latin typeface="Segoe UI"/>
              </a:rPr>
              <a:t>✓</a:t>
            </a:r>
          </a:p>
        </p:txBody>
      </p:sp>
      <p:sp>
        <p:nvSpPr>
          <p:cNvPr id="16" name="s16"/>
          <p:cNvSpPr txBox="1"/>
          <p:nvPr/>
        </p:nvSpPr>
        <p:spPr>
          <a:xfrm>
            <a:off x="1097280" y="451713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150" b="0">
                <a:solidFill>
                  <a:srgbClr val="9FB0C9"/>
                </a:solidFill>
                <a:latin typeface="Segoe UI"/>
              </a:rPr>
              <a:t>Two-tier ledger: verified vs. sandbox skills</a:t>
            </a:r>
          </a:p>
        </p:txBody>
      </p:sp>
      <p:sp>
        <p:nvSpPr>
          <p:cNvPr id="17" name="s17"/>
          <p:cNvSpPr txBox="0"/>
          <p:nvPr/>
        </p:nvSpPr>
        <p:spPr>
          <a:xfrm>
            <a:off x="4279392" y="2148840"/>
            <a:ext cx="3520440" cy="32918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18"/>
          <p:cNvSpPr txBox="0"/>
          <p:nvPr/>
        </p:nvSpPr>
        <p:spPr>
          <a:xfrm>
            <a:off x="4279392" y="2148840"/>
            <a:ext cx="3520440" cy="502920"/>
          </a:xfrm>
          <a:prstGeom prst="rect">
            <a:avLst/>
          </a:prstGeom>
          <a:solidFill>
            <a:srgbClr val="17C3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19"/>
          <p:cNvSpPr txBox="1"/>
          <p:nvPr/>
        </p:nvSpPr>
        <p:spPr>
          <a:xfrm>
            <a:off x="4507992" y="214884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350" b="1">
                <a:solidFill>
                  <a:srgbClr val="0A1628"/>
                </a:solidFill>
                <a:latin typeface="Segoe UI"/>
              </a:rPr>
              <a:t>Credentials &amp; Payments</a:t>
            </a:r>
          </a:p>
        </p:txBody>
      </p:sp>
      <p:sp>
        <p:nvSpPr>
          <p:cNvPr id="20" name="s20"/>
          <p:cNvSpPr txBox="1"/>
          <p:nvPr/>
        </p:nvSpPr>
        <p:spPr>
          <a:xfrm>
            <a:off x="4507992" y="28346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17C3D6"/>
                </a:solidFill>
                <a:latin typeface="Segoe UI"/>
              </a:rPr>
              <a:t>✓</a:t>
            </a:r>
          </a:p>
        </p:txBody>
      </p:sp>
      <p:sp>
        <p:nvSpPr>
          <p:cNvPr id="21" name="s21"/>
          <p:cNvSpPr txBox="1"/>
          <p:nvPr/>
        </p:nvSpPr>
        <p:spPr>
          <a:xfrm>
            <a:off x="4828032" y="283464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150" b="0">
                <a:solidFill>
                  <a:srgbClr val="9FB0C9"/>
                </a:solidFill>
                <a:latin typeface="Segoe UI"/>
              </a:rPr>
              <a:t>SHA-256 hash + Solana memo anchoring</a:t>
            </a:r>
          </a:p>
        </p:txBody>
      </p:sp>
      <p:sp>
        <p:nvSpPr>
          <p:cNvPr id="22" name="s22"/>
          <p:cNvSpPr txBox="1"/>
          <p:nvPr/>
        </p:nvSpPr>
        <p:spPr>
          <a:xfrm>
            <a:off x="4507992" y="367588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17C3D6"/>
                </a:solidFill>
                <a:latin typeface="Segoe UI"/>
              </a:rPr>
              <a:t>✓</a:t>
            </a:r>
          </a:p>
        </p:txBody>
      </p:sp>
      <p:sp>
        <p:nvSpPr>
          <p:cNvPr id="23" name="s23"/>
          <p:cNvSpPr txBox="1"/>
          <p:nvPr/>
        </p:nvSpPr>
        <p:spPr>
          <a:xfrm>
            <a:off x="4828032" y="3675888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150" b="0">
                <a:solidFill>
                  <a:srgbClr val="9FB0C9"/>
                </a:solidFill>
                <a:latin typeface="Segoe UI"/>
              </a:rPr>
              <a:t>Dispute &amp; on-chain revocation system</a:t>
            </a:r>
          </a:p>
        </p:txBody>
      </p:sp>
      <p:sp>
        <p:nvSpPr>
          <p:cNvPr id="24" name="s24"/>
          <p:cNvSpPr txBox="1"/>
          <p:nvPr/>
        </p:nvSpPr>
        <p:spPr>
          <a:xfrm>
            <a:off x="4507992" y="4517136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17C3D6"/>
                </a:solidFill>
                <a:latin typeface="Segoe UI"/>
              </a:rPr>
              <a:t>✓</a:t>
            </a:r>
          </a:p>
        </p:txBody>
      </p:sp>
      <p:sp>
        <p:nvSpPr>
          <p:cNvPr id="25" name="s25"/>
          <p:cNvSpPr txBox="1"/>
          <p:nvPr/>
        </p:nvSpPr>
        <p:spPr>
          <a:xfrm>
            <a:off x="4828032" y="451713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150" b="0">
                <a:solidFill>
                  <a:srgbClr val="9FB0C9"/>
                </a:solidFill>
                <a:latin typeface="Segoe UI"/>
              </a:rPr>
              <a:t>Live SVG badges + bulk institutional upload</a:t>
            </a:r>
          </a:p>
        </p:txBody>
      </p:sp>
      <p:sp>
        <p:nvSpPr>
          <p:cNvPr id="26" name="s26"/>
          <p:cNvSpPr txBox="0"/>
          <p:nvPr/>
        </p:nvSpPr>
        <p:spPr>
          <a:xfrm>
            <a:off x="8010144" y="2148840"/>
            <a:ext cx="3520440" cy="32918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27"/>
          <p:cNvSpPr txBox="0"/>
          <p:nvPr/>
        </p:nvSpPr>
        <p:spPr>
          <a:xfrm>
            <a:off x="8010144" y="2148840"/>
            <a:ext cx="3520440" cy="502920"/>
          </a:xfrm>
          <a:prstGeom prst="rect">
            <a:avLst/>
          </a:prstGeom>
          <a:solidFill>
            <a:srgbClr val="1FD69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28"/>
          <p:cNvSpPr txBox="1"/>
          <p:nvPr/>
        </p:nvSpPr>
        <p:spPr>
          <a:xfrm>
            <a:off x="8238744" y="214884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lang="en-US" sz="1350" b="1">
                <a:solidFill>
                  <a:srgbClr val="0A1628"/>
                </a:solidFill>
                <a:latin typeface="Segoe UI"/>
              </a:rPr>
              <a:t>Nigeria Modules + Economy</a:t>
            </a:r>
          </a:p>
        </p:txBody>
      </p:sp>
      <p:sp>
        <p:nvSpPr>
          <p:cNvPr id="29" name="s29"/>
          <p:cNvSpPr txBox="1"/>
          <p:nvPr/>
        </p:nvSpPr>
        <p:spPr>
          <a:xfrm>
            <a:off x="8238744" y="28346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1FD696"/>
                </a:solidFill>
                <a:latin typeface="Segoe UI"/>
              </a:rPr>
              <a:t>✓</a:t>
            </a:r>
          </a:p>
        </p:txBody>
      </p:sp>
      <p:sp>
        <p:nvSpPr>
          <p:cNvPr id="30" name="s30"/>
          <p:cNvSpPr txBox="1"/>
          <p:nvPr/>
        </p:nvSpPr>
        <p:spPr>
          <a:xfrm>
            <a:off x="8558784" y="283464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150" b="0">
                <a:solidFill>
                  <a:srgbClr val="9FB0C9"/>
                </a:solidFill>
                <a:latin typeface="Segoe UI"/>
              </a:rPr>
              <a:t>Bounty marketplace: apply → deliver → CredScore</a:t>
            </a:r>
          </a:p>
        </p:txBody>
      </p:sp>
      <p:sp>
        <p:nvSpPr>
          <p:cNvPr id="31" name="s31"/>
          <p:cNvSpPr txBox="1"/>
          <p:nvPr/>
        </p:nvSpPr>
        <p:spPr>
          <a:xfrm>
            <a:off x="8238744" y="367588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1FD696"/>
                </a:solidFill>
                <a:latin typeface="Segoe UI"/>
              </a:rPr>
              <a:t>✓</a:t>
            </a:r>
          </a:p>
        </p:txBody>
      </p:sp>
      <p:sp>
        <p:nvSpPr>
          <p:cNvPr id="32" name="s32"/>
          <p:cNvSpPr txBox="1"/>
          <p:nvPr/>
        </p:nvSpPr>
        <p:spPr>
          <a:xfrm>
            <a:off x="8558784" y="3675888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150" b="0">
                <a:solidFill>
                  <a:srgbClr val="9FB0C9"/>
                </a:solidFill>
                <a:latin typeface="Segoe UI"/>
              </a:rPr>
              <a:t>NYSC tracker + Global Trust Pass</a:t>
            </a:r>
          </a:p>
        </p:txBody>
      </p:sp>
      <p:sp>
        <p:nvSpPr>
          <p:cNvPr id="33" name="s33"/>
          <p:cNvSpPr txBox="1"/>
          <p:nvPr/>
        </p:nvSpPr>
        <p:spPr>
          <a:xfrm>
            <a:off x="8238744" y="4517136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300" b="1">
                <a:solidFill>
                  <a:srgbClr val="1FD696"/>
                </a:solidFill>
                <a:latin typeface="Segoe UI"/>
              </a:rPr>
              <a:t>✓</a:t>
            </a:r>
          </a:p>
        </p:txBody>
      </p:sp>
      <p:sp>
        <p:nvSpPr>
          <p:cNvPr id="34" name="s34"/>
          <p:cNvSpPr txBox="1"/>
          <p:nvPr/>
        </p:nvSpPr>
        <p:spPr>
          <a:xfrm>
            <a:off x="8558784" y="451713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2000"/>
            </a:lnSpc>
            <a:r>
              <a:rPr lang="en-US" sz="1150" b="0">
                <a:solidFill>
                  <a:srgbClr val="9FB0C9"/>
                </a:solidFill>
                <a:latin typeface="Segoe UI"/>
              </a:rPr>
              <a:t>Instant Statement of Result, USSD pass</a:t>
            </a:r>
          </a:p>
        </p:txBody>
      </p:sp>
      <p:sp>
        <p:nvSpPr>
          <p:cNvPr id="35" name="s35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50" b="1" i="1">
                <a:solidFill>
                  <a:srgbClr val="1FD696"/>
                </a:solidFill>
                <a:latin typeface="Segoe UI"/>
              </a:rPr>
              <a:t>Full-stack, working end-to-end: React + Node/Express + MongoDB + Solana Devnet, live now.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0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3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50" b="1">
                <a:solidFill>
                  <a:srgbClr val="F5A524"/>
                </a:solidFill>
                <a:latin typeface="Segoe UI"/>
              </a:rPr>
              <a:t>THE TEAM  ·  THE VISION</a:t>
            </a:r>
          </a:p>
        </p:txBody>
      </p:sp>
      <p:sp>
        <p:nvSpPr>
          <p:cNvPr id="4" name="s4"/>
          <p:cNvSpPr txBox="1"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950" b="1">
                <a:solidFill>
                  <a:srgbClr val="6E7F9B"/>
                </a:solidFill>
                <a:latin typeface="Segoe UI"/>
              </a:rPr>
              <a:t>CREDCHAIN  ·  BUILT ON SOLANA</a:t>
            </a:r>
          </a:p>
        </p:txBody>
      </p:sp>
      <p:sp>
        <p:nvSpPr>
          <p:cNvPr id="5" name="s5"/>
          <p:cNvSpPr txBox="1"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lang="en-US" sz="950" b="0">
                <a:solidFill>
                  <a:srgbClr val="6E7F9B"/>
                </a:solidFill>
                <a:latin typeface="Segoe UI"/>
              </a:rPr>
              <a:t>9 / 9</a:t>
            </a:r>
          </a:p>
        </p:txBody>
      </p:sp>
      <p:sp>
        <p:nvSpPr>
          <p:cNvPr id="6" name="s6"/>
          <p:cNvSpPr txBox="1"/>
          <p:nvPr/>
        </p:nvSpPr>
        <p:spPr>
          <a:xfrm>
            <a:off x="548640" y="822960"/>
            <a:ext cx="11155680" cy="9601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02000"/>
            </a:lnSpc>
            <a:r>
              <a:rPr lang="en-US" sz="3200" b="1">
                <a:solidFill>
                  <a:srgbClr val="FFFFFF"/>
                </a:solidFill>
                <a:latin typeface="Segoe UI"/>
              </a:rPr>
              <a:t>Built by builders. Proven by proof.</a:t>
            </a:r>
          </a:p>
        </p:txBody>
      </p:sp>
      <p:sp>
        <p:nvSpPr>
          <p:cNvPr id="7" name="s7"/>
          <p:cNvSpPr txBox="0"/>
          <p:nvPr/>
        </p:nvSpPr>
        <p:spPr>
          <a:xfrm>
            <a:off x="548640" y="1554480"/>
            <a:ext cx="3520440" cy="160020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8"/>
          <p:cNvSpPr txBox="0"/>
          <p:nvPr/>
        </p:nvSpPr>
        <p:spPr>
          <a:xfrm>
            <a:off x="548640" y="1554480"/>
            <a:ext cx="3520440" cy="91440"/>
          </a:xfrm>
          <a:prstGeom prst="rect">
            <a:avLst/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9"/>
          <p:cNvSpPr txBox="1"/>
          <p:nvPr/>
        </p:nvSpPr>
        <p:spPr>
          <a:xfrm>
            <a:off x="822960" y="178308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</a:rPr>
              <a:t>Full-Stack Engineering</a:t>
            </a:r>
          </a:p>
        </p:txBody>
      </p:sp>
      <p:sp>
        <p:nvSpPr>
          <p:cNvPr id="10" name="s10"/>
          <p:cNvSpPr txBox="1"/>
          <p:nvPr/>
        </p:nvSpPr>
        <p:spPr>
          <a:xfrm>
            <a:off x="822960" y="219456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4999"/>
            </a:lnSpc>
            <a:r>
              <a:rPr lang="en-US" sz="1150" b="0">
                <a:solidFill>
                  <a:srgbClr val="9FB0C9"/>
                </a:solidFill>
                <a:latin typeface="Segoe UI"/>
              </a:rPr>
              <a:t>React, Node/Express, MongoDB, Solana integration</a:t>
            </a:r>
          </a:p>
        </p:txBody>
      </p:sp>
      <p:sp>
        <p:nvSpPr>
          <p:cNvPr id="11" name="s11"/>
          <p:cNvSpPr txBox="0"/>
          <p:nvPr/>
        </p:nvSpPr>
        <p:spPr>
          <a:xfrm>
            <a:off x="4279392" y="1554480"/>
            <a:ext cx="3520440" cy="160020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12"/>
          <p:cNvSpPr txBox="0"/>
          <p:nvPr/>
        </p:nvSpPr>
        <p:spPr>
          <a:xfrm>
            <a:off x="4279392" y="1554480"/>
            <a:ext cx="3520440" cy="91440"/>
          </a:xfrm>
          <a:prstGeom prst="rect">
            <a:avLst/>
          </a:prstGeom>
          <a:solidFill>
            <a:srgbClr val="17C3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13"/>
          <p:cNvSpPr txBox="1"/>
          <p:nvPr/>
        </p:nvSpPr>
        <p:spPr>
          <a:xfrm>
            <a:off x="4553712" y="178308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</a:rPr>
              <a:t>AI Systems</a:t>
            </a:r>
          </a:p>
        </p:txBody>
      </p:sp>
      <p:sp>
        <p:nvSpPr>
          <p:cNvPr id="14" name="s14"/>
          <p:cNvSpPr txBox="1"/>
          <p:nvPr/>
        </p:nvSpPr>
        <p:spPr>
          <a:xfrm>
            <a:off x="4553712" y="219456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4999"/>
            </a:lnSpc>
            <a:r>
              <a:rPr lang="en-US" sz="1150" b="0">
                <a:solidFill>
                  <a:srgbClr val="9FB0C9"/>
                </a:solidFill>
                <a:latin typeface="Segoe UI"/>
              </a:rPr>
              <a:t>CV screening, forensic checks, insight engines</a:t>
            </a:r>
          </a:p>
        </p:txBody>
      </p:sp>
      <p:sp>
        <p:nvSpPr>
          <p:cNvPr id="15" name="s15"/>
          <p:cNvSpPr txBox="0"/>
          <p:nvPr/>
        </p:nvSpPr>
        <p:spPr>
          <a:xfrm>
            <a:off x="8010144" y="1554480"/>
            <a:ext cx="3520440" cy="160020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16"/>
          <p:cNvSpPr txBox="0"/>
          <p:nvPr/>
        </p:nvSpPr>
        <p:spPr>
          <a:xfrm>
            <a:off x="8010144" y="1554480"/>
            <a:ext cx="3520440" cy="91440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17"/>
          <p:cNvSpPr txBox="1"/>
          <p:nvPr/>
        </p:nvSpPr>
        <p:spPr>
          <a:xfrm>
            <a:off x="8284464" y="178308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</a:rPr>
              <a:t>Product &amp; Design</a:t>
            </a:r>
          </a:p>
        </p:txBody>
      </p:sp>
      <p:sp>
        <p:nvSpPr>
          <p:cNvPr id="18" name="s18"/>
          <p:cNvSpPr txBox="1"/>
          <p:nvPr/>
        </p:nvSpPr>
        <p:spPr>
          <a:xfrm>
            <a:off x="8284464" y="219456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4999"/>
            </a:lnSpc>
            <a:r>
              <a:rPr lang="en-US" sz="1150" b="0">
                <a:solidFill>
                  <a:srgbClr val="9FB0C9"/>
                </a:solidFill>
                <a:latin typeface="Segoe UI"/>
              </a:rPr>
              <a:t>UX, trust architecture, go-to-market</a:t>
            </a:r>
          </a:p>
        </p:txBody>
      </p:sp>
      <p:sp>
        <p:nvSpPr>
          <p:cNvPr id="19" name="s19"/>
          <p:cNvSpPr txBox="1"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200" b="1">
                <a:solidFill>
                  <a:srgbClr val="9FB0C9"/>
                </a:solidFill>
                <a:latin typeface="Segoe UI"/>
              </a:rPr>
              <a:t>WHO IT'S FOR</a:t>
            </a:r>
          </a:p>
        </p:txBody>
      </p:sp>
      <p:sp>
        <p:nvSpPr>
          <p:cNvPr id="20" name="s20"/>
          <p:cNvSpPr txBox="0"/>
          <p:nvPr/>
        </p:nvSpPr>
        <p:spPr>
          <a:xfrm>
            <a:off x="548640" y="3749040"/>
            <a:ext cx="3520440" cy="1051560"/>
          </a:xfrm>
          <a:prstGeom prst="roundRect">
            <a:avLst/>
          </a:prstGeom>
          <a:solidFill>
            <a:srgbClr val="0F1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21"/>
          <p:cNvSpPr txBox="1"/>
          <p:nvPr/>
        </p:nvSpPr>
        <p:spPr>
          <a:xfrm>
            <a:off x="804672" y="391363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400" b="1">
                <a:solidFill>
                  <a:srgbClr val="2E6BFF"/>
                </a:solidFill>
                <a:latin typeface="Segoe UI"/>
              </a:rPr>
              <a:t>Students</a:t>
            </a:r>
          </a:p>
        </p:txBody>
      </p:sp>
      <p:sp>
        <p:nvSpPr>
          <p:cNvPr id="22" name="s22"/>
          <p:cNvSpPr txBox="1"/>
          <p:nvPr/>
        </p:nvSpPr>
        <p:spPr>
          <a:xfrm>
            <a:off x="804672" y="427939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0000"/>
            </a:lnSpc>
            <a:r>
              <a:rPr lang="en-US" sz="1100" b="0">
                <a:solidFill>
                  <a:srgbClr val="9FB0C9"/>
                </a:solidFill>
                <a:latin typeface="Segoe UI"/>
              </a:rPr>
              <a:t>Own your achievements — get seen for what you've done.</a:t>
            </a:r>
          </a:p>
        </p:txBody>
      </p:sp>
      <p:sp>
        <p:nvSpPr>
          <p:cNvPr id="23" name="s23"/>
          <p:cNvSpPr txBox="0"/>
          <p:nvPr/>
        </p:nvSpPr>
        <p:spPr>
          <a:xfrm>
            <a:off x="4279392" y="3749040"/>
            <a:ext cx="3520440" cy="1051560"/>
          </a:xfrm>
          <a:prstGeom prst="roundRect">
            <a:avLst/>
          </a:prstGeom>
          <a:solidFill>
            <a:srgbClr val="0F1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s24"/>
          <p:cNvSpPr txBox="1"/>
          <p:nvPr/>
        </p:nvSpPr>
        <p:spPr>
          <a:xfrm>
            <a:off x="4535424" y="391363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400" b="1">
                <a:solidFill>
                  <a:srgbClr val="17C3D6"/>
                </a:solidFill>
                <a:latin typeface="Segoe UI"/>
              </a:rPr>
              <a:t>Employers</a:t>
            </a:r>
          </a:p>
        </p:txBody>
      </p:sp>
      <p:sp>
        <p:nvSpPr>
          <p:cNvPr id="25" name="s25"/>
          <p:cNvSpPr txBox="1"/>
          <p:nvPr/>
        </p:nvSpPr>
        <p:spPr>
          <a:xfrm>
            <a:off x="4535424" y="427939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0000"/>
            </a:lnSpc>
            <a:r>
              <a:rPr lang="en-US" sz="1100" b="0">
                <a:solidFill>
                  <a:srgbClr val="9FB0C9"/>
                </a:solidFill>
                <a:latin typeface="Segoe UI"/>
              </a:rPr>
              <a:t>Hire on proof — verification in under a second.</a:t>
            </a:r>
          </a:p>
        </p:txBody>
      </p:sp>
      <p:sp>
        <p:nvSpPr>
          <p:cNvPr id="26" name="s26"/>
          <p:cNvSpPr txBox="0"/>
          <p:nvPr/>
        </p:nvSpPr>
        <p:spPr>
          <a:xfrm>
            <a:off x="8010144" y="3749040"/>
            <a:ext cx="3520440" cy="1051560"/>
          </a:xfrm>
          <a:prstGeom prst="roundRect">
            <a:avLst/>
          </a:prstGeom>
          <a:solidFill>
            <a:srgbClr val="0F1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27"/>
          <p:cNvSpPr txBox="1"/>
          <p:nvPr/>
        </p:nvSpPr>
        <p:spPr>
          <a:xfrm>
            <a:off x="8266176" y="391363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lang="en-US" sz="1400" b="1">
                <a:solidFill>
                  <a:srgbClr val="F5A524"/>
                </a:solidFill>
                <a:latin typeface="Segoe UI"/>
              </a:rPr>
              <a:t>Institutions</a:t>
            </a:r>
          </a:p>
        </p:txBody>
      </p:sp>
      <p:sp>
        <p:nvSpPr>
          <p:cNvPr id="28" name="s28"/>
          <p:cNvSpPr txBox="1"/>
          <p:nvPr/>
        </p:nvSpPr>
        <p:spPr>
          <a:xfrm>
            <a:off x="8266176" y="427939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l"/>
            <a:lnSpc>
              <a:spcPct val="110000"/>
            </a:lnSpc>
            <a:r>
              <a:rPr lang="en-US" sz="1100" b="0">
                <a:solidFill>
                  <a:srgbClr val="9FB0C9"/>
                </a:solidFill>
                <a:latin typeface="Segoe UI"/>
              </a:rPr>
              <a:t>Issue at scale, build global recognition.</a:t>
            </a:r>
          </a:p>
        </p:txBody>
      </p:sp>
      <p:sp>
        <p:nvSpPr>
          <p:cNvPr id="29" name="s29"/>
          <p:cNvSpPr txBox="0"/>
          <p:nvPr/>
        </p:nvSpPr>
        <p:spPr>
          <a:xfrm>
            <a:off x="548640" y="5120640"/>
            <a:ext cx="11091672" cy="1005840"/>
          </a:xfrm>
          <a:prstGeom prst="roundRect">
            <a:avLst/>
          </a:prstGeom>
          <a:solidFill>
            <a:srgbClr val="132A4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s30"/>
          <p:cNvSpPr txBox="1"/>
          <p:nvPr/>
        </p:nvSpPr>
        <p:spPr>
          <a:xfrm>
            <a:off x="548640" y="523036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lang="en-US" sz="1900" b="1">
                <a:solidFill>
                  <a:srgbClr val="2E6BFF"/>
                </a:solidFill>
                <a:latin typeface="Segoe UI"/>
              </a:rPr>
              <a:t>CredChain</a:t>
            </a:r>
            <a:r>
              <a:rPr lang="en-US" sz="1900" b="1">
                <a:solidFill>
                  <a:srgbClr val="FFFFFF"/>
                </a:solidFill>
                <a:latin typeface="Segoe UI"/>
              </a:rPr>
              <a:t> — verified on Solana. Nigeria first, built for the world.</a:t>
            </a:r>
          </a:p>
        </p:txBody>
      </p:sp>
      <p:sp>
        <p:nvSpPr>
          <p:cNvPr id="31" name="s31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lang="en-US" sz="1300" b="0" i="1">
                <a:solidFill>
                  <a:srgbClr val="9FB0C9"/>
                </a:solidFill>
                <a:latin typeface="Segoe UI"/>
              </a:rPr>
              <a:t>Your proof of skill deserves to travel with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Chain">
  <a:themeElements>
    <a:clrScheme name="CredChain">
      <a:dk1>
        <a:sysClr val="windowText" lastClr="000000"/>
      </a:dk1>
      <a:lt1>
        <a:sysClr val="window" lastClr="FFFFFF"/>
      </a:lt1>
      <a:dk2>
        <a:srgbClr val="0A1628"/>
      </a:dk2>
      <a:lt2>
        <a:srgbClr val="F1F5F9"/>
      </a:lt2>
      <a:accent1>
        <a:srgbClr val="2E6BFF"/>
      </a:accent1>
      <a:accent2>
        <a:srgbClr val="17C3D6"/>
      </a:accent2>
      <a:accent3>
        <a:srgbClr val="1FD696"/>
      </a:accent3>
      <a:accent4>
        <a:srgbClr val="F5A524"/>
      </a:accent4>
      <a:accent5>
        <a:srgbClr val="93C5FD"/>
      </a:accent5>
      <a:accent6>
        <a:srgbClr val="6E7F9B"/>
      </a:accent6>
      <a:hlink>
        <a:srgbClr val="2E6BFF"/>
      </a:hlink>
      <a:folHlink>
        <a:srgbClr val="17C3D6"/>
      </a:folHlink>
    </a:clrScheme>
    <a:fontScheme name="CredChai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redCh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